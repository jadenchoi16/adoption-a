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3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0C168-40C1-8BE1-AC04-C9435207E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AF31E-EA5E-6F7E-1BC5-26F347D0C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8E356-E78D-4918-A42B-9F11EAA7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82614-BE32-C92F-F71B-04D92AA2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7347-9587-FAEB-2451-792676D0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8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8428-EE79-9794-F331-538C2573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CA6A8-4C72-0A6B-FC7E-16CD1368F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B648-D5F0-461F-DB2A-E77AD5C4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53E0B-79D5-1F69-4BB2-EB2B8C16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E7FE7-AFAB-3173-4164-392ADBB4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1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DCE7-CCCC-84C1-4B13-FDCF0789F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F35D4-CC1E-4B7B-BB78-12BE63416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FBBE-0A9A-98F8-A303-4587251A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E243F-F11C-1901-DE8E-51337434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F5CD3-041B-BBA4-8439-2A34B4EC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4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3C76-2E41-8184-BE63-EA8C3D3A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1C499-230C-37D1-212B-E82BB3D58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F2479-9307-C27D-D7C4-3886858F4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8997B-5826-EFA0-AF86-6BAB7F87C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BD2D2-641F-AB2D-5012-64FFA828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11A57-0876-CFC2-C272-BBD3281A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D7AA-999E-0B33-A7CA-F5A85BDF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C0D65-6297-CD3A-F56E-C9BA51114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4D914-B192-84AD-AC94-A0403B462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EB0FC-2872-9F24-FF54-C3CC222B3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C7FC4-D6F3-B484-6B3C-54205C97B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C9DA0-A453-EF74-4A76-72397984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698DF-4790-F3CB-145A-7F309EB9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8FC7A-AB36-E1E4-8610-8764D263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5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15D39-96F8-4DCA-6697-A2EA091E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DF77C-A79F-0DC0-602A-60E2DFA20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B4A81-F825-83DF-CD66-034C2FC7E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9F0C8-A572-8196-7F29-E1994C84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06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FED842-D33E-570E-FFFB-F498FBEB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91D98-7A34-469A-E5D4-14F7B191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AB6C3-B37B-82D6-CDED-F27E6EDD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6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9D6A-B1F3-E5D5-82B2-D3240271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CF53A-7077-9834-26A8-9EB669E62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941A9-A5BC-930F-1EC9-F4341DD92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E8186-EEA5-CCDF-2E5F-E8674820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64ECE-349B-4234-4A94-ED7B8C27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FFE53-C8F1-36BD-5FD3-0A89D68E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1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638C-27A8-B04E-8979-AB8CE38B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CB9B7-4E76-6340-1A56-672DB76CB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6889E-E90F-4B40-6D2C-CC6A8D9D7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1598C-69BD-53C4-0DB4-9A8C66C7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19389-9137-C9E4-38D6-C52B84E4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8DF8C-793C-E707-CC60-684CB021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49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7749-7362-AF4F-4074-144BAD06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6E2DDC-C57C-CC5A-5F4D-F84FDD4D2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E39D7-15AD-760A-3460-5CD1D705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F7A6B-3ACA-6BFF-F8C9-787D2BA8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5AA98-D3E1-B317-E752-163DA371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5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A5B8E7-FFAD-BD94-166B-779BB7537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52889-00CB-EE6F-0D4E-C8F3A9239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D360A-935B-3B26-0D6D-4C843975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B660-B7FB-9192-7D31-87571311E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7502A-4D24-85AC-A038-6320DE48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9700EB-6510-70C0-F03A-E5DAAECC2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27382-6245-6FDF-2326-F52C33C8A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303F9-9C43-25B9-91C8-C24EB834E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ACDE8-EBC5-4C15-BB31-ACAF094556C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CC7FA-FDE7-38B3-E2A3-77EC37CC6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45EA1-3350-5509-3260-3D9C1BC7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DEF35-B443-4E52-9E99-1A948FCE8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8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314033-F12F-0243-CF16-31AE9E07806D}"/>
              </a:ext>
            </a:extLst>
          </p:cNvPr>
          <p:cNvSpPr txBox="1"/>
          <p:nvPr/>
        </p:nvSpPr>
        <p:spPr>
          <a:xfrm>
            <a:off x="762000" y="762000"/>
            <a:ext cx="889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A4C6A"/>
                </a:solidFill>
                <a:latin typeface="Consolas" panose="020B0609020204030204" pitchFamily="49" charset="0"/>
              </a:rPr>
              <a:t>ADDITIONAL FINDING  -  MINING VS. ADOPTION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1655E-8358-6D03-A517-3DB79B1DD319}"/>
              </a:ext>
            </a:extLst>
          </p:cNvPr>
          <p:cNvSpPr txBox="1"/>
          <p:nvPr/>
        </p:nvSpPr>
        <p:spPr>
          <a:xfrm>
            <a:off x="762000" y="11684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A2A3A"/>
                </a:solidFill>
                <a:latin typeface="Cambria" panose="02040503050406030204" pitchFamily="18" charset="0"/>
              </a:rPr>
              <a:t>High mining does NOT mean high adoption.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C4508-9798-DE7C-AF50-561B5EE39866}"/>
              </a:ext>
            </a:extLst>
          </p:cNvPr>
          <p:cNvSpPr txBox="1"/>
          <p:nvPr/>
        </p:nvSpPr>
        <p:spPr>
          <a:xfrm>
            <a:off x="762000" y="1955800"/>
            <a:ext cx="1066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i="1">
                <a:solidFill>
                  <a:srgbClr val="2C3E50"/>
                </a:solidFill>
                <a:latin typeface="Calibri" panose="020F0502020204030204" pitchFamily="34" charset="0"/>
              </a:rPr>
              <a:t>Mining and consumer adoption move on completely different inputs. Five of our top six adopters mine essentially zero Bitcoin.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68C39C-19F0-D35B-AA74-6CC045746B61}"/>
              </a:ext>
            </a:extLst>
          </p:cNvPr>
          <p:cNvSpPr/>
          <p:nvPr/>
        </p:nvSpPr>
        <p:spPr>
          <a:xfrm>
            <a:off x="762000" y="2730500"/>
            <a:ext cx="5080000" cy="292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E7855D-8012-B923-0264-0911BF8A14B5}"/>
              </a:ext>
            </a:extLst>
          </p:cNvPr>
          <p:cNvSpPr/>
          <p:nvPr/>
        </p:nvSpPr>
        <p:spPr>
          <a:xfrm>
            <a:off x="762000" y="2730500"/>
            <a:ext cx="5080000" cy="50800"/>
          </a:xfrm>
          <a:prstGeom prst="rect">
            <a:avLst/>
          </a:prstGeom>
          <a:solidFill>
            <a:srgbClr val="9B5A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0D7D4-66A7-87E1-9C5E-72C166D9351F}"/>
              </a:ext>
            </a:extLst>
          </p:cNvPr>
          <p:cNvSpPr txBox="1"/>
          <p:nvPr/>
        </p:nvSpPr>
        <p:spPr>
          <a:xfrm>
            <a:off x="990600" y="2908300"/>
            <a:ext cx="4622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9B5A30"/>
                </a:solidFill>
                <a:latin typeface="Consolas" panose="020B0609020204030204" pitchFamily="49" charset="0"/>
              </a:rPr>
              <a:t>TOP MINERS  -  WHERE DO THEY RANK ON ADOPTION?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29B78-E705-F889-6C6A-5AEF7C03A7F4}"/>
              </a:ext>
            </a:extLst>
          </p:cNvPr>
          <p:cNvSpPr txBox="1"/>
          <p:nvPr/>
        </p:nvSpPr>
        <p:spPr>
          <a:xfrm>
            <a:off x="990600" y="32131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COUNTRY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28E2F-5FAA-25E0-EB63-A8039E0F7BA0}"/>
              </a:ext>
            </a:extLst>
          </p:cNvPr>
          <p:cNvSpPr txBox="1"/>
          <p:nvPr/>
        </p:nvSpPr>
        <p:spPr>
          <a:xfrm>
            <a:off x="2768600" y="32131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HASHRATE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B8CBED-506F-6E19-0502-487F5B25C7C6}"/>
              </a:ext>
            </a:extLst>
          </p:cNvPr>
          <p:cNvSpPr txBox="1"/>
          <p:nvPr/>
        </p:nvSpPr>
        <p:spPr>
          <a:xfrm>
            <a:off x="4038600" y="32131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ADOPTION RANK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36E17-0B8E-918C-343D-899C01B7F622}"/>
              </a:ext>
            </a:extLst>
          </p:cNvPr>
          <p:cNvSpPr txBox="1"/>
          <p:nvPr/>
        </p:nvSpPr>
        <p:spPr>
          <a:xfrm>
            <a:off x="990600" y="34925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United States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F7028-A7DA-060F-588F-5322C248CE31}"/>
              </a:ext>
            </a:extLst>
          </p:cNvPr>
          <p:cNvSpPr txBox="1"/>
          <p:nvPr/>
        </p:nvSpPr>
        <p:spPr>
          <a:xfrm>
            <a:off x="2768600" y="35179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2C3E50"/>
                </a:solidFill>
                <a:latin typeface="Consolas" panose="020B0609020204030204" pitchFamily="49" charset="0"/>
              </a:rPr>
              <a:t>37.5%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D38BD8-0C75-B1FA-47CE-E270D160B74D}"/>
              </a:ext>
            </a:extLst>
          </p:cNvPr>
          <p:cNvSpPr txBox="1"/>
          <p:nvPr/>
        </p:nvSpPr>
        <p:spPr>
          <a:xfrm>
            <a:off x="4038600" y="35179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400" b="1">
                <a:solidFill>
                  <a:srgbClr val="5BA8B5"/>
                </a:solidFill>
                <a:latin typeface="Consolas" panose="020B0609020204030204" pitchFamily="49" charset="0"/>
              </a:rPr>
              <a:t>#4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6346D7-ADD7-B002-9279-55E23AC2E167}"/>
              </a:ext>
            </a:extLst>
          </p:cNvPr>
          <p:cNvSpPr txBox="1"/>
          <p:nvPr/>
        </p:nvSpPr>
        <p:spPr>
          <a:xfrm>
            <a:off x="990600" y="39751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Russia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5BEF8-BBDD-B88E-C4A7-76FC1CDC5A94}"/>
              </a:ext>
            </a:extLst>
          </p:cNvPr>
          <p:cNvSpPr txBox="1"/>
          <p:nvPr/>
        </p:nvSpPr>
        <p:spPr>
          <a:xfrm>
            <a:off x="2768600" y="40005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2C3E50"/>
                </a:solidFill>
                <a:latin typeface="Consolas" panose="020B0609020204030204" pitchFamily="49" charset="0"/>
              </a:rPr>
              <a:t>16.4%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02B3BB-2ABB-88A3-3F45-7363D9F79F9F}"/>
              </a:ext>
            </a:extLst>
          </p:cNvPr>
          <p:cNvSpPr txBox="1"/>
          <p:nvPr/>
        </p:nvSpPr>
        <p:spPr>
          <a:xfrm>
            <a:off x="4038600" y="40005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400" b="1">
                <a:solidFill>
                  <a:srgbClr val="2C3E50"/>
                </a:solidFill>
                <a:latin typeface="Consolas" panose="020B0609020204030204" pitchFamily="49" charset="0"/>
              </a:rPr>
              <a:t>#12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285C0-DF86-8DC7-E0FE-883662E8E2D6}"/>
              </a:ext>
            </a:extLst>
          </p:cNvPr>
          <p:cNvSpPr txBox="1"/>
          <p:nvPr/>
        </p:nvSpPr>
        <p:spPr>
          <a:xfrm>
            <a:off x="990600" y="44577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Ethiopia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5F9FE8-C65C-4118-D644-E71FD39C5004}"/>
              </a:ext>
            </a:extLst>
          </p:cNvPr>
          <p:cNvSpPr txBox="1"/>
          <p:nvPr/>
        </p:nvSpPr>
        <p:spPr>
          <a:xfrm>
            <a:off x="2768600" y="44831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2C3E50"/>
                </a:solidFill>
                <a:latin typeface="Consolas" panose="020B0609020204030204" pitchFamily="49" charset="0"/>
              </a:rPr>
              <a:t>2.6%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6EE878-FDEE-7DC3-6F9F-09FD78950970}"/>
              </a:ext>
            </a:extLst>
          </p:cNvPr>
          <p:cNvSpPr txBox="1"/>
          <p:nvPr/>
        </p:nvSpPr>
        <p:spPr>
          <a:xfrm>
            <a:off x="4038600" y="44831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400" b="1">
                <a:solidFill>
                  <a:srgbClr val="C06030"/>
                </a:solidFill>
                <a:latin typeface="Consolas" panose="020B0609020204030204" pitchFamily="49" charset="0"/>
              </a:rPr>
              <a:t>#20 (LAST)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5D573-5D1D-ABA3-60BC-AA8015EEA23E}"/>
              </a:ext>
            </a:extLst>
          </p:cNvPr>
          <p:cNvSpPr txBox="1"/>
          <p:nvPr/>
        </p:nvSpPr>
        <p:spPr>
          <a:xfrm>
            <a:off x="990600" y="49403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A"/>
                </a:solidFill>
                <a:latin typeface="Cambria" panose="02040503050406030204" pitchFamily="18" charset="0"/>
              </a:rPr>
              <a:t>Indonesia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0681A7-D7BB-09B3-9268-90DD46898CE1}"/>
              </a:ext>
            </a:extLst>
          </p:cNvPr>
          <p:cNvSpPr txBox="1"/>
          <p:nvPr/>
        </p:nvSpPr>
        <p:spPr>
          <a:xfrm>
            <a:off x="2768600" y="49657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2C3E50"/>
                </a:solidFill>
                <a:latin typeface="Consolas" panose="020B0609020204030204" pitchFamily="49" charset="0"/>
              </a:rPr>
              <a:t>2.1%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4B3A3-F71D-DFFD-63A5-30A64653DF97}"/>
              </a:ext>
            </a:extLst>
          </p:cNvPr>
          <p:cNvSpPr txBox="1"/>
          <p:nvPr/>
        </p:nvSpPr>
        <p:spPr>
          <a:xfrm>
            <a:off x="4038600" y="49657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400" b="1">
                <a:solidFill>
                  <a:srgbClr val="2C3E50"/>
                </a:solidFill>
                <a:latin typeface="Consolas" panose="020B0609020204030204" pitchFamily="49" charset="0"/>
              </a:rPr>
              <a:t>#10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21B772-99F1-A896-83E2-835CB0BA8ED1}"/>
              </a:ext>
            </a:extLst>
          </p:cNvPr>
          <p:cNvSpPr txBox="1"/>
          <p:nvPr/>
        </p:nvSpPr>
        <p:spPr>
          <a:xfrm>
            <a:off x="990600" y="4940300"/>
            <a:ext cx="4622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i="1">
                <a:solidFill>
                  <a:srgbClr val="5A6B7C"/>
                </a:solidFill>
                <a:latin typeface="Calibri" panose="020F0502020204030204" pitchFamily="34" charset="0"/>
              </a:rPr>
              <a:t>Mixed. The US is the only top miner that's also a top adopter. Ethiopia mines a lot but is the lowest-adoption country in the index.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98F38DE-369F-5FBE-A0C8-D78A3760FC2E}"/>
              </a:ext>
            </a:extLst>
          </p:cNvPr>
          <p:cNvSpPr/>
          <p:nvPr/>
        </p:nvSpPr>
        <p:spPr>
          <a:xfrm>
            <a:off x="6350000" y="2730500"/>
            <a:ext cx="5080000" cy="292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648572-A4F3-48F0-31A1-5CCC331FF0D9}"/>
              </a:ext>
            </a:extLst>
          </p:cNvPr>
          <p:cNvSpPr/>
          <p:nvPr/>
        </p:nvSpPr>
        <p:spPr>
          <a:xfrm>
            <a:off x="6350000" y="2730500"/>
            <a:ext cx="5080000" cy="50800"/>
          </a:xfrm>
          <a:prstGeom prst="rect">
            <a:avLst/>
          </a:prstGeom>
          <a:solidFill>
            <a:srgbClr val="5BA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0DE4D1-98E8-8118-1CDD-715E108D19BE}"/>
              </a:ext>
            </a:extLst>
          </p:cNvPr>
          <p:cNvSpPr txBox="1"/>
          <p:nvPr/>
        </p:nvSpPr>
        <p:spPr>
          <a:xfrm>
            <a:off x="6578600" y="2908300"/>
            <a:ext cx="4622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5BA8B5"/>
                </a:solidFill>
                <a:latin typeface="Consolas" panose="020B0609020204030204" pitchFamily="49" charset="0"/>
              </a:rPr>
              <a:t>TOP ADOPTERS  -  HOW MUCH DO THEY MINE?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AC208F-4F0F-EA20-A962-39F997D3D9A4}"/>
              </a:ext>
            </a:extLst>
          </p:cNvPr>
          <p:cNvSpPr txBox="1"/>
          <p:nvPr/>
        </p:nvSpPr>
        <p:spPr>
          <a:xfrm>
            <a:off x="6578600" y="32131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COUNTRY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A2C708-817A-AF3E-0719-30F3D34DE4DF}"/>
              </a:ext>
            </a:extLst>
          </p:cNvPr>
          <p:cNvSpPr txBox="1"/>
          <p:nvPr/>
        </p:nvSpPr>
        <p:spPr>
          <a:xfrm>
            <a:off x="8356600" y="32131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ADOPTION RANK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BB0303-5FB6-0253-C379-12E59D147A35}"/>
              </a:ext>
            </a:extLst>
          </p:cNvPr>
          <p:cNvSpPr txBox="1"/>
          <p:nvPr/>
        </p:nvSpPr>
        <p:spPr>
          <a:xfrm>
            <a:off x="9626600" y="32131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7A8A9A"/>
                </a:solidFill>
                <a:latin typeface="Consolas" panose="020B0609020204030204" pitchFamily="49" charset="0"/>
              </a:rPr>
              <a:t>MINING SCORE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5CCA3B-3F0C-80A5-28B3-204C749BCCB2}"/>
              </a:ext>
            </a:extLst>
          </p:cNvPr>
          <p:cNvSpPr txBox="1"/>
          <p:nvPr/>
        </p:nvSpPr>
        <p:spPr>
          <a:xfrm>
            <a:off x="6578600" y="34925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A2A3A"/>
                </a:solidFill>
                <a:latin typeface="Cambria" panose="02040503050406030204" pitchFamily="18" charset="0"/>
              </a:rPr>
              <a:t>Vietnam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A3ADCC-F1B0-82F6-57DD-6B12B3BD2A77}"/>
              </a:ext>
            </a:extLst>
          </p:cNvPr>
          <p:cNvSpPr txBox="1"/>
          <p:nvPr/>
        </p:nvSpPr>
        <p:spPr>
          <a:xfrm>
            <a:off x="8356600" y="35052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2C3E50"/>
                </a:solidFill>
                <a:latin typeface="Consolas" panose="020B0609020204030204" pitchFamily="49" charset="0"/>
              </a:rPr>
              <a:t>#1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9140F9-CB9A-3B95-DF80-F73B0F56F896}"/>
              </a:ext>
            </a:extLst>
          </p:cNvPr>
          <p:cNvSpPr txBox="1"/>
          <p:nvPr/>
        </p:nvSpPr>
        <p:spPr>
          <a:xfrm>
            <a:off x="9626600" y="35052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00" b="1">
                <a:solidFill>
                  <a:srgbClr val="C06030"/>
                </a:solidFill>
                <a:latin typeface="Consolas" panose="020B0609020204030204" pitchFamily="49" charset="0"/>
              </a:rPr>
              <a:t>0.010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FFDAB9-CD14-B5C2-17DA-E70E8454C1A8}"/>
              </a:ext>
            </a:extLst>
          </p:cNvPr>
          <p:cNvSpPr txBox="1"/>
          <p:nvPr/>
        </p:nvSpPr>
        <p:spPr>
          <a:xfrm>
            <a:off x="6578600" y="38735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A2A3A"/>
                </a:solidFill>
                <a:latin typeface="Cambria" panose="02040503050406030204" pitchFamily="18" charset="0"/>
              </a:rPr>
              <a:t>Ukraine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4FAB97-41BD-A3C0-B6CD-841E53412F2A}"/>
              </a:ext>
            </a:extLst>
          </p:cNvPr>
          <p:cNvSpPr txBox="1"/>
          <p:nvPr/>
        </p:nvSpPr>
        <p:spPr>
          <a:xfrm>
            <a:off x="8356600" y="38862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2C3E50"/>
                </a:solidFill>
                <a:latin typeface="Consolas" panose="020B0609020204030204" pitchFamily="49" charset="0"/>
              </a:rPr>
              <a:t>#2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DCBB32-0B25-62AE-DA34-AEA4698F681F}"/>
              </a:ext>
            </a:extLst>
          </p:cNvPr>
          <p:cNvSpPr txBox="1"/>
          <p:nvPr/>
        </p:nvSpPr>
        <p:spPr>
          <a:xfrm>
            <a:off x="9626600" y="38862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00" b="1">
                <a:solidFill>
                  <a:srgbClr val="C06030"/>
                </a:solidFill>
                <a:latin typeface="Consolas" panose="020B0609020204030204" pitchFamily="49" charset="0"/>
              </a:rPr>
              <a:t>0.013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25D677-0878-4116-C9F6-7DBD4AE30904}"/>
              </a:ext>
            </a:extLst>
          </p:cNvPr>
          <p:cNvSpPr txBox="1"/>
          <p:nvPr/>
        </p:nvSpPr>
        <p:spPr>
          <a:xfrm>
            <a:off x="6578600" y="42545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A2A3A"/>
                </a:solidFill>
                <a:latin typeface="Cambria" panose="02040503050406030204" pitchFamily="18" charset="0"/>
              </a:rPr>
              <a:t>Philippines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E206B4-E808-4D71-9277-2A4854A79FB2}"/>
              </a:ext>
            </a:extLst>
          </p:cNvPr>
          <p:cNvSpPr txBox="1"/>
          <p:nvPr/>
        </p:nvSpPr>
        <p:spPr>
          <a:xfrm>
            <a:off x="8356600" y="42672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2C3E50"/>
                </a:solidFill>
                <a:latin typeface="Consolas" panose="020B0609020204030204" pitchFamily="49" charset="0"/>
              </a:rPr>
              <a:t>#3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F20E0E-5A39-D630-954F-F03502EC3452}"/>
              </a:ext>
            </a:extLst>
          </p:cNvPr>
          <p:cNvSpPr txBox="1"/>
          <p:nvPr/>
        </p:nvSpPr>
        <p:spPr>
          <a:xfrm>
            <a:off x="9626600" y="42672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00" b="1">
                <a:solidFill>
                  <a:srgbClr val="C06030"/>
                </a:solidFill>
                <a:latin typeface="Consolas" panose="020B0609020204030204" pitchFamily="49" charset="0"/>
              </a:rPr>
              <a:t>0.010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F7C421-4735-857D-840C-5A33F9832CF2}"/>
              </a:ext>
            </a:extLst>
          </p:cNvPr>
          <p:cNvSpPr txBox="1"/>
          <p:nvPr/>
        </p:nvSpPr>
        <p:spPr>
          <a:xfrm>
            <a:off x="6578600" y="46355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A2A3A"/>
                </a:solidFill>
                <a:latin typeface="Cambria" panose="02040503050406030204" pitchFamily="18" charset="0"/>
              </a:rPr>
              <a:t>United States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E6A42-90F5-99FA-92B1-783A6C1365F5}"/>
              </a:ext>
            </a:extLst>
          </p:cNvPr>
          <p:cNvSpPr txBox="1"/>
          <p:nvPr/>
        </p:nvSpPr>
        <p:spPr>
          <a:xfrm>
            <a:off x="8356600" y="46482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2C3E50"/>
                </a:solidFill>
                <a:latin typeface="Consolas" panose="020B0609020204030204" pitchFamily="49" charset="0"/>
              </a:rPr>
              <a:t>#4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BDA835-C48C-E0BA-B57D-618FB8262752}"/>
              </a:ext>
            </a:extLst>
          </p:cNvPr>
          <p:cNvSpPr txBox="1"/>
          <p:nvPr/>
        </p:nvSpPr>
        <p:spPr>
          <a:xfrm>
            <a:off x="9626600" y="46482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00" b="1">
                <a:solidFill>
                  <a:srgbClr val="5BA8B5"/>
                </a:solidFill>
                <a:latin typeface="Consolas" panose="020B0609020204030204" pitchFamily="49" charset="0"/>
              </a:rPr>
              <a:t>0.983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1739B9-113F-DBFB-3373-B34AC75BD47B}"/>
              </a:ext>
            </a:extLst>
          </p:cNvPr>
          <p:cNvSpPr txBox="1"/>
          <p:nvPr/>
        </p:nvSpPr>
        <p:spPr>
          <a:xfrm>
            <a:off x="6578600" y="5016500"/>
            <a:ext cx="177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A2A3A"/>
                </a:solidFill>
                <a:latin typeface="Cambria" panose="02040503050406030204" pitchFamily="18" charset="0"/>
              </a:rPr>
              <a:t>Pakistan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933CC9-9038-A2F5-A407-B5E6AE4CDDB5}"/>
              </a:ext>
            </a:extLst>
          </p:cNvPr>
          <p:cNvSpPr txBox="1"/>
          <p:nvPr/>
        </p:nvSpPr>
        <p:spPr>
          <a:xfrm>
            <a:off x="8356600" y="5029200"/>
            <a:ext cx="127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2C3E50"/>
                </a:solidFill>
                <a:latin typeface="Consolas" panose="020B0609020204030204" pitchFamily="49" charset="0"/>
              </a:rPr>
              <a:t>#5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0FC768-2C36-23D6-15A2-F039DBD40DE9}"/>
              </a:ext>
            </a:extLst>
          </p:cNvPr>
          <p:cNvSpPr txBox="1"/>
          <p:nvPr/>
        </p:nvSpPr>
        <p:spPr>
          <a:xfrm>
            <a:off x="9626600" y="5029200"/>
            <a:ext cx="1574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00" b="1">
                <a:solidFill>
                  <a:srgbClr val="C06030"/>
                </a:solidFill>
                <a:latin typeface="Consolas" panose="020B0609020204030204" pitchFamily="49" charset="0"/>
              </a:rPr>
              <a:t>0.010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01FA19-1A31-817E-3888-D34B4BB0F607}"/>
              </a:ext>
            </a:extLst>
          </p:cNvPr>
          <p:cNvSpPr txBox="1"/>
          <p:nvPr/>
        </p:nvSpPr>
        <p:spPr>
          <a:xfrm>
            <a:off x="6578600" y="5194300"/>
            <a:ext cx="4622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i="1">
                <a:solidFill>
                  <a:srgbClr val="5A6B7C"/>
                </a:solidFill>
                <a:latin typeface="Calibri" panose="020F0502020204030204" pitchFamily="34" charset="0"/>
              </a:rPr>
              <a:t>Five of six adopters mine ~0%. The pattern is one-way: the US is an outlier, not a rule.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52C7D93-6E3B-71EF-D91A-FB86D6FD5665}"/>
              </a:ext>
            </a:extLst>
          </p:cNvPr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4000"/>
            </a:avLst>
          </a:prstGeom>
          <a:solidFill>
            <a:srgbClr val="0A16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D6B4B4-CBA4-6123-4839-D4F87CB40F70}"/>
              </a:ext>
            </a:extLst>
          </p:cNvPr>
          <p:cNvSpPr txBox="1"/>
          <p:nvPr/>
        </p:nvSpPr>
        <p:spPr>
          <a:xfrm>
            <a:off x="965200" y="5969000"/>
            <a:ext cx="254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5BA8B5"/>
                </a:solidFill>
                <a:latin typeface="Consolas" panose="020B0609020204030204" pitchFamily="49" charset="0"/>
              </a:rPr>
              <a:t>THE TAKEAWAY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C8C843-2EF4-E1B5-DE3B-891CCE12E13B}"/>
              </a:ext>
            </a:extLst>
          </p:cNvPr>
          <p:cNvSpPr txBox="1"/>
          <p:nvPr/>
        </p:nvSpPr>
        <p:spPr>
          <a:xfrm>
            <a:off x="965200" y="6172200"/>
            <a:ext cx="10261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D0DAE3"/>
                </a:solidFill>
                <a:latin typeface="Calibri" panose="020F0502020204030204" pitchFamily="34" charset="0"/>
              </a:rPr>
              <a:t>Mining and adoption are different businesses with different drivers. Mining follows cheap energy; adoption follows financial necessity. They are largely independent, which is exactly why this project measures the technical and economic pillars separately.</a:t>
            </a:r>
          </a:p>
        </p:txBody>
      </p:sp>
    </p:spTree>
    <p:extLst>
      <p:ext uri="{BB962C8B-B14F-4D97-AF65-F5344CB8AC3E}">
        <p14:creationId xmlns:p14="http://schemas.microsoft.com/office/powerpoint/2010/main" val="188888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On-screen Show (16:9)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Jaden Choi</dc:creator>
  <cp:lastModifiedBy>Jaden Choi</cp:lastModifiedBy>
  <cp:revision>1</cp:revision>
  <dcterms:created xsi:type="dcterms:W3CDTF">2026-04-29T20:56:30Z</dcterms:created>
  <dcterms:modified xsi:type="dcterms:W3CDTF">2026-04-29T20:56:30Z</dcterms:modified>
</cp:coreProperties>
</file>