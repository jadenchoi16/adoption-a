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62" y="-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AAD5-7C75-1FBF-C278-60C0E0897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435E9-BB15-A631-EBE6-4375D61EE6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A9C11-846F-CF1C-EB6B-2B6B392C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E67-EC19-45D6-95B1-13F5CF918E5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C2551-6ABC-46C3-A4C4-74B7FD0D3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55DB3-4A92-D3BE-46C8-A5699DF6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1B4D1-DC60-4AE6-B57B-1B9854C0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7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8339-BD2D-DDF7-B9F1-EB1FD9526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8F193-F7F0-BCA8-4FD6-AD39D4F59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F983C-1438-0C8E-BD59-DBFB9F1A1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E67-EC19-45D6-95B1-13F5CF918E5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78D8-F45E-4066-370E-ED029C79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69290-E027-8791-7C6A-C9A9D5202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1B4D1-DC60-4AE6-B57B-1B9854C0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8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EDDA-E5E7-1F21-C466-EDD4FC67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7AA46-1516-796A-6B5D-E92A16DF2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E1863-3CE3-12CA-AB0C-16F4CC22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E67-EC19-45D6-95B1-13F5CF918E5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1E3B6-5FB8-11B7-4278-71133C707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EFEBE-3251-513A-BA75-BBD97437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1B4D1-DC60-4AE6-B57B-1B9854C0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8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122A-D276-6432-9AD7-F041080CA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FBA9F-9F97-3F93-52EA-2CC9A9A31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DFE34-94AF-49D7-1209-C05649107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18120-2CC6-A0BC-9C82-10159FEF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E67-EC19-45D6-95B1-13F5CF918E5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29E2C-CDCF-6F07-1E33-5CAAB587D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02D21-6A5D-FDFC-B7F2-AC2D1A48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1B4D1-DC60-4AE6-B57B-1B9854C0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6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184BF-6356-0002-45C8-5B8A0A8C6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DAFF1-8A45-55FC-17E9-6E519A630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EB067-711C-D97C-A3FB-BFD1444B6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B1E7BB-72AF-8470-0F12-AA35B09D1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C143F7-84CF-C524-D215-28465A75A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D002E3-1963-147D-C2B3-3899710C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E67-EC19-45D6-95B1-13F5CF918E5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EB62A6-9C07-E9D2-3708-8B0C24E7B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121507-DAF2-5EC1-D1BC-6CB6A512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1B4D1-DC60-4AE6-B57B-1B9854C0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4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5509E-A0B7-33CE-06E8-5742E3FC2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9A89-2A56-81B3-FAE2-C8FE33C0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E67-EC19-45D6-95B1-13F5CF918E5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DEA28-AECA-1DD3-02B2-E316D4FD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48E54-9BA9-FC18-BE7C-3619EA59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1B4D1-DC60-4AE6-B57B-1B9854C0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90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DB5128-F866-E59B-C8DD-22F59F945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E67-EC19-45D6-95B1-13F5CF918E5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559369-2EFB-F2BB-07BA-7ACB19B5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76A8B-9375-44B9-20D6-B738EB02E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1B4D1-DC60-4AE6-B57B-1B9854C0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1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3A9A-BFE8-7119-163B-A588E8377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10DD5-6A7A-53C2-7251-4400CC9A3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1EFA1-99DF-0F59-0403-C153AE036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F9B5A-DE8D-6366-D864-12315D2F3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E67-EC19-45D6-95B1-13F5CF918E5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04331-3CC9-9CCD-D6AE-7BB4C0EE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60AE6-57CB-A2D0-5495-1041D32F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1B4D1-DC60-4AE6-B57B-1B9854C0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04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C8335-5315-0317-1E19-115BED16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42FD63-7300-8419-0000-BA09F753E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B3F85-3FD6-749F-6EC3-8173CC234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56E0E-E666-FC0B-5113-73BF42D4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E67-EC19-45D6-95B1-13F5CF918E5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7595F-896E-6F00-F3B5-DA33E9C06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E8B66-1869-DF9F-BB26-B83F85263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1B4D1-DC60-4AE6-B57B-1B9854C0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05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87C1F-D702-8B8D-5D72-62E66C5BA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DB32F-9B78-5ED4-89EB-389EDE055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CC29A-E773-ED55-50D2-2AAE749AE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E67-EC19-45D6-95B1-13F5CF918E5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6DA22-E221-93EC-F7AE-2AC5E1A7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05E79-FAC3-6100-1312-9E3CD9CE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1B4D1-DC60-4AE6-B57B-1B9854C0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98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DDC123-81A3-A045-624A-7568EDF60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FE714-C908-802A-7D80-9C9047B15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AEE27-8E2A-4B1A-4ECA-E4F9F7F0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1E67-EC19-45D6-95B1-13F5CF918E5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E06BF-CE3F-1455-3925-631FC371C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CDA43-0C32-D948-3E61-96030065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1B4D1-DC60-4AE6-B57B-1B9854C0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2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92892-569A-09E1-28CC-009D5110D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20912-A687-D935-C921-9487F5A8D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4577C-11DC-D2F9-57AA-6F82D5F15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61E67-EC19-45D6-95B1-13F5CF918E5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B2B38-3423-0EAA-476D-3480A753F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DC3D2-8E34-5F73-5863-7D495D01C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21B4D1-DC60-4AE6-B57B-1B9854C0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4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FBBFE2-33CE-8DC8-5F87-56D5645EE135}"/>
              </a:ext>
            </a:extLst>
          </p:cNvPr>
          <p:cNvSpPr txBox="1"/>
          <p:nvPr/>
        </p:nvSpPr>
        <p:spPr>
          <a:xfrm>
            <a:off x="762000" y="889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5BA8B5"/>
                </a:solidFill>
                <a:latin typeface="Consolas" panose="020B0609020204030204" pitchFamily="49" charset="0"/>
              </a:rPr>
              <a:t>TAC 456  -  CAPSTONE SEMINAR  -  APRIL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63579-E4B4-AB42-DF13-C44A51FD994D}"/>
              </a:ext>
            </a:extLst>
          </p:cNvPr>
          <p:cNvSpPr txBox="1"/>
          <p:nvPr/>
        </p:nvSpPr>
        <p:spPr>
          <a:xfrm>
            <a:off x="762000" y="1524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5600" b="1">
                <a:solidFill>
                  <a:srgbClr val="F0F4F8"/>
                </a:solidFill>
                <a:latin typeface="Cambria" panose="02040503050406030204" pitchFamily="18" charset="0"/>
              </a:rPr>
              <a:t>Blockchain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9B64F-FEA6-2067-FA81-5F0A9258F848}"/>
              </a:ext>
            </a:extLst>
          </p:cNvPr>
          <p:cNvSpPr txBox="1"/>
          <p:nvPr/>
        </p:nvSpPr>
        <p:spPr>
          <a:xfrm>
            <a:off x="762000" y="23368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6400" b="1">
                <a:solidFill>
                  <a:srgbClr val="5BA8B5"/>
                </a:solidFill>
                <a:latin typeface="Cambria" panose="02040503050406030204" pitchFamily="18" charset="0"/>
              </a:rPr>
              <a:t>Adoption Atlas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E2CB6-E24A-DB5C-DFC0-25AB0BABF599}"/>
              </a:ext>
            </a:extLst>
          </p:cNvPr>
          <p:cNvSpPr txBox="1"/>
          <p:nvPr/>
        </p:nvSpPr>
        <p:spPr>
          <a:xfrm>
            <a:off x="762000" y="3556000"/>
            <a:ext cx="9652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C0D2DC"/>
                </a:solidFill>
                <a:latin typeface="Calibri" panose="020F0502020204030204" pitchFamily="34" charset="0"/>
              </a:rPr>
              <a:t>Measuring blockchain readiness across economic, regulatory, and technical dimensions in 20 countries.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8376A6-9EE3-720E-91FB-03B837226D15}"/>
              </a:ext>
            </a:extLst>
          </p:cNvPr>
          <p:cNvSpPr txBox="1"/>
          <p:nvPr/>
        </p:nvSpPr>
        <p:spPr>
          <a:xfrm>
            <a:off x="762000" y="5842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7E8C98"/>
                </a:solidFill>
                <a:latin typeface="Consolas" panose="020B0609020204030204" pitchFamily="49" charset="0"/>
              </a:rPr>
              <a:t>FEDERICO BECERRA  -  NICO TAYLOR  -  JADEN CHOI  -  ALEXIS VO  -  ALON MUTTER  -  ARI CHOE</a:t>
            </a:r>
          </a:p>
        </p:txBody>
      </p:sp>
    </p:spTree>
    <p:extLst>
      <p:ext uri="{BB962C8B-B14F-4D97-AF65-F5344CB8AC3E}">
        <p14:creationId xmlns:p14="http://schemas.microsoft.com/office/powerpoint/2010/main" val="1241984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B99A01-7D53-7FE4-26D6-085FE05A469E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0A4C6A"/>
                </a:solidFill>
                <a:latin typeface="Consolas" panose="020B0609020204030204" pitchFamily="49" charset="0"/>
              </a:rPr>
              <a:t>ALON / ARI / ALEXIS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B22CB-B2E2-378D-5699-8EC7A2BE5D56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A4C6A"/>
                </a:solidFill>
                <a:latin typeface="Consolas" panose="020B0609020204030204" pitchFamily="49" charset="0"/>
              </a:rPr>
              <a:t>01  -  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F1375-FBA2-5AC5-1B6A-4B8E89C657E7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A2A3A"/>
                </a:solidFill>
                <a:latin typeface="Cambria" panose="02040503050406030204" pitchFamily="18" charset="0"/>
              </a:rPr>
              <a:t>Existing rankings answer the wrong question.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9CC83-1A19-A639-B2FD-AD51C6266AA8}"/>
              </a:ext>
            </a:extLst>
          </p:cNvPr>
          <p:cNvSpPr txBox="1"/>
          <p:nvPr/>
        </p:nvSpPr>
        <p:spPr>
          <a:xfrm>
            <a:off x="762000" y="20574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C3E50"/>
                </a:solidFill>
                <a:latin typeface="Calibri" panose="020F0502020204030204" pitchFamily="34" charset="0"/>
              </a:rPr>
              <a:t>Current blockchain adoption metrics are fragmented and conflate speculation with genuine utility.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FB01DC-E96E-1870-8BAC-C9558695D23B}"/>
              </a:ext>
            </a:extLst>
          </p:cNvPr>
          <p:cNvSpPr txBox="1"/>
          <p:nvPr/>
        </p:nvSpPr>
        <p:spPr>
          <a:xfrm>
            <a:off x="762000" y="2794000"/>
            <a:ext cx="508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A2A3A"/>
                </a:solidFill>
                <a:latin typeface="Cambria" panose="02040503050406030204" pitchFamily="18" charset="0"/>
              </a:rPr>
              <a:t>What others measure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31A724-4AE7-EF77-A971-3A58F6DB07E6}"/>
              </a:ext>
            </a:extLst>
          </p:cNvPr>
          <p:cNvCxnSpPr/>
          <p:nvPr/>
        </p:nvCxnSpPr>
        <p:spPr>
          <a:xfrm>
            <a:off x="762000" y="3327400"/>
            <a:ext cx="177800" cy="0"/>
          </a:xfrm>
          <a:prstGeom prst="line">
            <a:avLst/>
          </a:prstGeom>
          <a:ln w="19050">
            <a:solidFill>
              <a:srgbClr val="0A4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427C1B5-06E0-EC33-1881-1EC7B623E570}"/>
              </a:ext>
            </a:extLst>
          </p:cNvPr>
          <p:cNvSpPr txBox="1"/>
          <p:nvPr/>
        </p:nvSpPr>
        <p:spPr>
          <a:xfrm>
            <a:off x="1041400" y="32258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2C3E50"/>
                </a:solidFill>
                <a:latin typeface="Calibri" panose="020F0502020204030204" pitchFamily="34" charset="0"/>
              </a:rPr>
              <a:t>Chainalysis: composite of on-chain activity, weighted toward CEX volume and DeFi flows.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362D53-7886-ECCC-32CB-BA9B176404BE}"/>
              </a:ext>
            </a:extLst>
          </p:cNvPr>
          <p:cNvCxnSpPr/>
          <p:nvPr/>
        </p:nvCxnSpPr>
        <p:spPr>
          <a:xfrm>
            <a:off x="762000" y="3962400"/>
            <a:ext cx="177800" cy="0"/>
          </a:xfrm>
          <a:prstGeom prst="line">
            <a:avLst/>
          </a:prstGeom>
          <a:ln w="19050">
            <a:solidFill>
              <a:srgbClr val="0A4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B7F21BD-C264-7194-C850-1361015D470C}"/>
              </a:ext>
            </a:extLst>
          </p:cNvPr>
          <p:cNvSpPr txBox="1"/>
          <p:nvPr/>
        </p:nvSpPr>
        <p:spPr>
          <a:xfrm>
            <a:off x="1041400" y="38608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2C3E50"/>
                </a:solidFill>
                <a:latin typeface="Calibri" panose="020F0502020204030204" pitchFamily="34" charset="0"/>
              </a:rPr>
              <a:t>Triple-A: a single ownership-percentage statistic per country.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5CD3CD-4214-94C4-F9FE-4E59796E20FE}"/>
              </a:ext>
            </a:extLst>
          </p:cNvPr>
          <p:cNvCxnSpPr/>
          <p:nvPr/>
        </p:nvCxnSpPr>
        <p:spPr>
          <a:xfrm>
            <a:off x="762000" y="4597400"/>
            <a:ext cx="177800" cy="0"/>
          </a:xfrm>
          <a:prstGeom prst="line">
            <a:avLst/>
          </a:prstGeom>
          <a:ln w="19050">
            <a:solidFill>
              <a:srgbClr val="0A4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5A235D9-4B0B-F0FD-B432-31866DCD4C31}"/>
              </a:ext>
            </a:extLst>
          </p:cNvPr>
          <p:cNvSpPr txBox="1"/>
          <p:nvPr/>
        </p:nvSpPr>
        <p:spPr>
          <a:xfrm>
            <a:off x="1041400" y="44958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2C3E50"/>
                </a:solidFill>
                <a:latin typeface="Calibri" panose="020F0502020204030204" pitchFamily="34" charset="0"/>
              </a:rPr>
              <a:t>Country reports (PwC, Library of Congress): legal status, no behavioral data.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F2751-55B4-3634-3DD8-7C5F0B54563A}"/>
              </a:ext>
            </a:extLst>
          </p:cNvPr>
          <p:cNvSpPr txBox="1"/>
          <p:nvPr/>
        </p:nvSpPr>
        <p:spPr>
          <a:xfrm>
            <a:off x="6350000" y="2794000"/>
            <a:ext cx="508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A2A3A"/>
                </a:solidFill>
                <a:latin typeface="Cambria" panose="02040503050406030204" pitchFamily="18" charset="0"/>
              </a:rPr>
              <a:t>What is missing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AD0322-99BA-7131-F12B-3888DE427F68}"/>
              </a:ext>
            </a:extLst>
          </p:cNvPr>
          <p:cNvCxnSpPr/>
          <p:nvPr/>
        </p:nvCxnSpPr>
        <p:spPr>
          <a:xfrm>
            <a:off x="6350000" y="3327400"/>
            <a:ext cx="177800" cy="0"/>
          </a:xfrm>
          <a:prstGeom prst="line">
            <a:avLst/>
          </a:prstGeom>
          <a:ln w="19050">
            <a:solidFill>
              <a:srgbClr val="0A4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9FD48FB-CF1F-D4E8-3393-888925ACD632}"/>
              </a:ext>
            </a:extLst>
          </p:cNvPr>
          <p:cNvSpPr txBox="1"/>
          <p:nvPr/>
        </p:nvSpPr>
        <p:spPr>
          <a:xfrm>
            <a:off x="6629400" y="32258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2C3E50"/>
                </a:solidFill>
                <a:latin typeface="Calibri" panose="020F0502020204030204" pitchFamily="34" charset="0"/>
              </a:rPr>
              <a:t>None separate why a country ranks high. India, Vietnam, and the US sit near the top of Chainalysis for completely different reasons.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516941-E159-2F0A-61C7-317295F6308C}"/>
              </a:ext>
            </a:extLst>
          </p:cNvPr>
          <p:cNvCxnSpPr/>
          <p:nvPr/>
        </p:nvCxnSpPr>
        <p:spPr>
          <a:xfrm>
            <a:off x="6350000" y="4038600"/>
            <a:ext cx="177800" cy="0"/>
          </a:xfrm>
          <a:prstGeom prst="line">
            <a:avLst/>
          </a:prstGeom>
          <a:ln w="19050">
            <a:solidFill>
              <a:srgbClr val="0A4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CF08882-99AB-97F4-4EEA-156D652015FA}"/>
              </a:ext>
            </a:extLst>
          </p:cNvPr>
          <p:cNvSpPr txBox="1"/>
          <p:nvPr/>
        </p:nvSpPr>
        <p:spPr>
          <a:xfrm>
            <a:off x="6629400" y="39370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2C3E50"/>
                </a:solidFill>
                <a:latin typeface="Calibri" panose="020F0502020204030204" pitchFamily="34" charset="0"/>
              </a:rPr>
              <a:t>None combine usage, legal clarity, and infrastructure into one comparable picture.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F977502-DB71-42F3-BA5E-74D53842CC5F}"/>
              </a:ext>
            </a:extLst>
          </p:cNvPr>
          <p:cNvCxnSpPr/>
          <p:nvPr/>
        </p:nvCxnSpPr>
        <p:spPr>
          <a:xfrm>
            <a:off x="6350000" y="4749800"/>
            <a:ext cx="177800" cy="0"/>
          </a:xfrm>
          <a:prstGeom prst="line">
            <a:avLst/>
          </a:prstGeom>
          <a:ln w="19050">
            <a:solidFill>
              <a:srgbClr val="0A4C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85D27CE-92D3-4460-454E-F0784826B9C9}"/>
              </a:ext>
            </a:extLst>
          </p:cNvPr>
          <p:cNvSpPr txBox="1"/>
          <p:nvPr/>
        </p:nvSpPr>
        <p:spPr>
          <a:xfrm>
            <a:off x="6629400" y="46482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2C3E50"/>
                </a:solidFill>
                <a:latin typeface="Calibri" panose="020F0502020204030204" pitchFamily="34" charset="0"/>
              </a:rPr>
              <a:t>None reveal the tradeoff between regulation and adoption.</a:t>
            </a:r>
          </a:p>
        </p:txBody>
      </p:sp>
    </p:spTree>
    <p:extLst>
      <p:ext uri="{BB962C8B-B14F-4D97-AF65-F5344CB8AC3E}">
        <p14:creationId xmlns:p14="http://schemas.microsoft.com/office/powerpoint/2010/main" val="386627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B3C6B-6CF8-32B1-50CA-960AC394B4A6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0A4C6A"/>
                </a:solidFill>
                <a:latin typeface="Consolas" panose="020B0609020204030204" pitchFamily="49" charset="0"/>
              </a:rPr>
              <a:t>ALON / ARI / ALEXIS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E07BD-74CA-4FDF-BEDC-505345AD3B6B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9B5A30"/>
                </a:solidFill>
                <a:latin typeface="Consolas" panose="020B0609020204030204" pitchFamily="49" charset="0"/>
              </a:rPr>
              <a:t>02  -  OUR 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3FE71-A443-327A-959D-22A468A8D7BE}"/>
              </a:ext>
            </a:extLst>
          </p:cNvPr>
          <p:cNvSpPr txBox="1"/>
          <p:nvPr/>
        </p:nvSpPr>
        <p:spPr>
          <a:xfrm>
            <a:off x="762000" y="1651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A2A3A"/>
                </a:solidFill>
                <a:latin typeface="Cambria" panose="02040503050406030204" pitchFamily="18" charset="0"/>
              </a:rPr>
              <a:t>How should global blockchain adoption be measured and visualized across economic, technical, and regulatory dimensions?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86DCE-BE75-C4BB-4DF9-6DDDD7DB7E41}"/>
              </a:ext>
            </a:extLst>
          </p:cNvPr>
          <p:cNvSpPr txBox="1"/>
          <p:nvPr/>
        </p:nvSpPr>
        <p:spPr>
          <a:xfrm>
            <a:off x="762000" y="4826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C3E50"/>
                </a:solidFill>
                <a:latin typeface="Calibri" panose="020F0502020204030204" pitchFamily="34" charset="0"/>
              </a:rPr>
              <a:t>A defensible answer requires keeping the three dimensions separable, not collapsing them into a single number that hides which one is doing the work.</a:t>
            </a:r>
          </a:p>
        </p:txBody>
      </p:sp>
    </p:spTree>
    <p:extLst>
      <p:ext uri="{BB962C8B-B14F-4D97-AF65-F5344CB8AC3E}">
        <p14:creationId xmlns:p14="http://schemas.microsoft.com/office/powerpoint/2010/main" val="1492139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1F505B-55CC-2534-E73E-D5982282D7DE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9BDCE8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5BA8B5"/>
                </a:solidFill>
                <a:latin typeface="Consolas" panose="020B0609020204030204" pitchFamily="49" charset="0"/>
              </a:rPr>
              <a:t>ALON / ARI / ALEXIS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74648-89C3-678F-7DCF-25D9E98FF1AC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5BA8B5"/>
                </a:solidFill>
                <a:latin typeface="Consolas" panose="020B0609020204030204" pitchFamily="49" charset="0"/>
              </a:rPr>
              <a:t>03  -  OUR THESIS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1F834-E0CB-DCE6-3B57-DE66BB023C91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F0F4F8"/>
                </a:solidFill>
                <a:latin typeface="Cambria" panose="02040503050406030204" pitchFamily="18" charset="0"/>
              </a:rPr>
              <a:t>What we expected vs. what we found.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460424-E3BD-8FBC-2FAF-5DB429D43FC5}"/>
              </a:ext>
            </a:extLst>
          </p:cNvPr>
          <p:cNvSpPr/>
          <p:nvPr/>
        </p:nvSpPr>
        <p:spPr>
          <a:xfrm>
            <a:off x="762000" y="2159000"/>
            <a:ext cx="5080000" cy="3048000"/>
          </a:xfrm>
          <a:prstGeom prst="roundRect">
            <a:avLst>
              <a:gd name="adj" fmla="val 4000"/>
            </a:avLst>
          </a:prstGeom>
          <a:solidFill>
            <a:srgbClr val="1224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A7DF55-1B30-60B7-79E8-41988813A94B}"/>
              </a:ext>
            </a:extLst>
          </p:cNvPr>
          <p:cNvSpPr/>
          <p:nvPr/>
        </p:nvSpPr>
        <p:spPr>
          <a:xfrm>
            <a:off x="762000" y="2159000"/>
            <a:ext cx="5080000" cy="50800"/>
          </a:xfrm>
          <a:prstGeom prst="rect">
            <a:avLst/>
          </a:prstGeom>
          <a:solidFill>
            <a:srgbClr val="7E8C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93B5E-6254-BE45-A8F1-8AAF9292A6C4}"/>
              </a:ext>
            </a:extLst>
          </p:cNvPr>
          <p:cNvSpPr txBox="1"/>
          <p:nvPr/>
        </p:nvSpPr>
        <p:spPr>
          <a:xfrm>
            <a:off x="965200" y="2336800"/>
            <a:ext cx="4673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9AA5B0"/>
                </a:solidFill>
                <a:latin typeface="Consolas" panose="020B0609020204030204" pitchFamily="49" charset="0"/>
              </a:rPr>
              <a:t>ORIGINAL THESIS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2E2B3E-FC25-9CE7-9A19-8A520899C8CD}"/>
              </a:ext>
            </a:extLst>
          </p:cNvPr>
          <p:cNvSpPr txBox="1"/>
          <p:nvPr/>
        </p:nvSpPr>
        <p:spPr>
          <a:xfrm>
            <a:off x="965200" y="2540000"/>
            <a:ext cx="4673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F0F4F8"/>
                </a:solidFill>
                <a:latin typeface="Cambria" panose="02040503050406030204" pitchFamily="18" charset="0"/>
              </a:rPr>
              <a:t>High trading volume would not correlate with strong technical infrastructure or regulatory clarity.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9B021D-0B67-F952-09EB-2248B054812D}"/>
              </a:ext>
            </a:extLst>
          </p:cNvPr>
          <p:cNvSpPr txBox="1"/>
          <p:nvPr/>
        </p:nvSpPr>
        <p:spPr>
          <a:xfrm>
            <a:off x="965200" y="3073400"/>
            <a:ext cx="4673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D0DAE3"/>
                </a:solidFill>
                <a:latin typeface="Calibri" panose="020F0502020204030204" pitchFamily="34" charset="0"/>
              </a:rPr>
              <a:t>i.e., countries with the most activity are not the ones with the best frameworks for it.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1E28BD-B3E4-95E7-A40B-8393FB8D3794}"/>
              </a:ext>
            </a:extLst>
          </p:cNvPr>
          <p:cNvSpPr/>
          <p:nvPr/>
        </p:nvSpPr>
        <p:spPr>
          <a:xfrm>
            <a:off x="6350000" y="2159000"/>
            <a:ext cx="5080000" cy="3048000"/>
          </a:xfrm>
          <a:prstGeom prst="roundRect">
            <a:avLst>
              <a:gd name="adj" fmla="val 4000"/>
            </a:avLst>
          </a:prstGeom>
          <a:solidFill>
            <a:srgbClr val="1224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41F0CF-3422-5B42-DA31-8D53557DD1E9}"/>
              </a:ext>
            </a:extLst>
          </p:cNvPr>
          <p:cNvSpPr/>
          <p:nvPr/>
        </p:nvSpPr>
        <p:spPr>
          <a:xfrm>
            <a:off x="6350000" y="2159000"/>
            <a:ext cx="5080000" cy="50800"/>
          </a:xfrm>
          <a:prstGeom prst="rect">
            <a:avLst/>
          </a:prstGeom>
          <a:solidFill>
            <a:srgbClr val="C06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A0E60F-82C9-5C80-DC9B-33916ED56EDE}"/>
              </a:ext>
            </a:extLst>
          </p:cNvPr>
          <p:cNvSpPr txBox="1"/>
          <p:nvPr/>
        </p:nvSpPr>
        <p:spPr>
          <a:xfrm>
            <a:off x="6553200" y="2336800"/>
            <a:ext cx="4673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9AA5B0"/>
                </a:solidFill>
                <a:latin typeface="Consolas" panose="020B0609020204030204" pitchFamily="49" charset="0"/>
              </a:rPr>
              <a:t>REVISED THESIS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402504-A725-4C75-8CAA-A4D5876703C1}"/>
              </a:ext>
            </a:extLst>
          </p:cNvPr>
          <p:cNvSpPr txBox="1"/>
          <p:nvPr/>
        </p:nvSpPr>
        <p:spPr>
          <a:xfrm>
            <a:off x="6553200" y="2540000"/>
            <a:ext cx="4673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F0F4F8"/>
                </a:solidFill>
                <a:latin typeface="Cambria" panose="02040503050406030204" pitchFamily="18" charset="0"/>
              </a:rPr>
              <a:t>High crypto activity does not mean a country is truly blockchain-ready.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415D11-9806-9638-399A-8C081FEB9504}"/>
              </a:ext>
            </a:extLst>
          </p:cNvPr>
          <p:cNvSpPr txBox="1"/>
          <p:nvPr/>
        </p:nvSpPr>
        <p:spPr>
          <a:xfrm>
            <a:off x="6553200" y="3073400"/>
            <a:ext cx="4673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D0DAE3"/>
                </a:solidFill>
                <a:latin typeface="Calibri" panose="020F0502020204030204" pitchFamily="34" charset="0"/>
              </a:rPr>
              <a:t>Some countries are active out of necessity, others have built real infrastructure, and you cannot tell the difference without looking at all three dimensions separately.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2FB307-2951-1CA5-6F63-3BFD03B81C7E}"/>
              </a:ext>
            </a:extLst>
          </p:cNvPr>
          <p:cNvSpPr txBox="1"/>
          <p:nvPr/>
        </p:nvSpPr>
        <p:spPr>
          <a:xfrm>
            <a:off x="762000" y="5588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i="1">
                <a:solidFill>
                  <a:srgbClr val="9BDCE8"/>
                </a:solidFill>
                <a:latin typeface="Calibri" panose="020F0502020204030204" pitchFamily="34" charset="0"/>
              </a:rPr>
              <a:t>The original thesis was partially confirmed. The revised thesis is what the data actually showed.</a:t>
            </a:r>
          </a:p>
        </p:txBody>
      </p:sp>
    </p:spTree>
    <p:extLst>
      <p:ext uri="{BB962C8B-B14F-4D97-AF65-F5344CB8AC3E}">
        <p14:creationId xmlns:p14="http://schemas.microsoft.com/office/powerpoint/2010/main" val="4293913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AA8045-8A3C-5936-F8BC-F1A9C57BC8AE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0A4C6A"/>
                </a:solidFill>
                <a:latin typeface="Consolas" panose="020B0609020204030204" pitchFamily="49" charset="0"/>
              </a:rPr>
              <a:t>ALON / ARI / ALEXIS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5D23F-2323-483C-221D-4E28898C0AC9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A4C6A"/>
                </a:solidFill>
                <a:latin typeface="Consolas" panose="020B0609020204030204" pitchFamily="49" charset="0"/>
              </a:rPr>
              <a:t>04  - 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BDE3D-6B51-DA7D-49C3-5D779D4DE7A9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A2A3A"/>
                </a:solidFill>
                <a:latin typeface="Cambria" panose="02040503050406030204" pitchFamily="18" charset="0"/>
              </a:rPr>
              <a:t>Three pillars, weighted equally.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68473-8F7D-E4A3-8324-65590D3F8B8D}"/>
              </a:ext>
            </a:extLst>
          </p:cNvPr>
          <p:cNvSpPr txBox="1"/>
          <p:nvPr/>
        </p:nvSpPr>
        <p:spPr>
          <a:xfrm>
            <a:off x="762000" y="20574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C3E50"/>
                </a:solidFill>
                <a:latin typeface="Calibri" panose="020F0502020204030204" pitchFamily="34" charset="0"/>
              </a:rPr>
              <a:t>Each country gets one score per pillar, normalized to 0 to 1. The overall score is their average. The point is to keep the pillars separable, so the underlying driver of any country's position stays visible.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E636A5-33AC-9EB5-5188-02CFD6115BC1}"/>
              </a:ext>
            </a:extLst>
          </p:cNvPr>
          <p:cNvSpPr/>
          <p:nvPr/>
        </p:nvSpPr>
        <p:spPr>
          <a:xfrm>
            <a:off x="762000" y="3175000"/>
            <a:ext cx="3429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01CCC0-AA95-0EDB-43B0-555F4AD514AE}"/>
              </a:ext>
            </a:extLst>
          </p:cNvPr>
          <p:cNvSpPr/>
          <p:nvPr/>
        </p:nvSpPr>
        <p:spPr>
          <a:xfrm>
            <a:off x="762000" y="3175000"/>
            <a:ext cx="3429000" cy="50800"/>
          </a:xfrm>
          <a:prstGeom prst="rect">
            <a:avLst/>
          </a:prstGeom>
          <a:solidFill>
            <a:srgbClr val="1A7A4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392B4-5FE4-2C97-F906-DDFE0B535059}"/>
              </a:ext>
            </a:extLst>
          </p:cNvPr>
          <p:cNvSpPr txBox="1"/>
          <p:nvPr/>
        </p:nvSpPr>
        <p:spPr>
          <a:xfrm>
            <a:off x="939800" y="33528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Economic Adoption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7176D7-B984-D51B-1AFC-280B2976F82B}"/>
              </a:ext>
            </a:extLst>
          </p:cNvPr>
          <p:cNvSpPr txBox="1"/>
          <p:nvPr/>
        </p:nvSpPr>
        <p:spPr>
          <a:xfrm>
            <a:off x="939800" y="36322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WEIGHT 1/3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D44DA1-9981-40CE-9C97-579F54BC4804}"/>
              </a:ext>
            </a:extLst>
          </p:cNvPr>
          <p:cNvSpPr txBox="1"/>
          <p:nvPr/>
        </p:nvSpPr>
        <p:spPr>
          <a:xfrm>
            <a:off x="939800" y="38608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2C3E50"/>
                </a:solidFill>
                <a:latin typeface="Calibri" panose="020F0502020204030204" pitchFamily="34" charset="0"/>
              </a:rPr>
              <a:t>Real-world crypto use: ownership, exchange volume per GDP, remittances, Chainalysis ranks.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5E01D9-9C09-E241-AFD8-8408781DC6C1}"/>
              </a:ext>
            </a:extLst>
          </p:cNvPr>
          <p:cNvSpPr/>
          <p:nvPr/>
        </p:nvSpPr>
        <p:spPr>
          <a:xfrm>
            <a:off x="4381500" y="3175000"/>
            <a:ext cx="3429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1317CE-62F1-43E7-C4D3-C1200400FA04}"/>
              </a:ext>
            </a:extLst>
          </p:cNvPr>
          <p:cNvSpPr/>
          <p:nvPr/>
        </p:nvSpPr>
        <p:spPr>
          <a:xfrm>
            <a:off x="4381500" y="3175000"/>
            <a:ext cx="3429000" cy="50800"/>
          </a:xfrm>
          <a:prstGeom prst="rect">
            <a:avLst/>
          </a:prstGeom>
          <a:solidFill>
            <a:srgbClr val="9B5A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D3837E-C76E-441B-D15C-668F9E096A33}"/>
              </a:ext>
            </a:extLst>
          </p:cNvPr>
          <p:cNvSpPr txBox="1"/>
          <p:nvPr/>
        </p:nvSpPr>
        <p:spPr>
          <a:xfrm>
            <a:off x="4559300" y="33528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Regulatory Clarity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9DC39A-735B-6CCC-BB96-94CDC04A1476}"/>
              </a:ext>
            </a:extLst>
          </p:cNvPr>
          <p:cNvSpPr txBox="1"/>
          <p:nvPr/>
        </p:nvSpPr>
        <p:spPr>
          <a:xfrm>
            <a:off x="4559300" y="36322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WEIGHT 1/3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684C40-7E22-1FC1-9505-043C47D9CECC}"/>
              </a:ext>
            </a:extLst>
          </p:cNvPr>
          <p:cNvSpPr txBox="1"/>
          <p:nvPr/>
        </p:nvSpPr>
        <p:spPr>
          <a:xfrm>
            <a:off x="4559300" y="38608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2C3E50"/>
                </a:solidFill>
                <a:latin typeface="Calibri" panose="020F0502020204030204" pitchFamily="34" charset="0"/>
              </a:rPr>
              <a:t>Six legal sub-dimensions: stablecoins, licensing, tax, banking, enforcement, DeFi.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2837F1-76F7-0907-73A0-80E069E11A47}"/>
              </a:ext>
            </a:extLst>
          </p:cNvPr>
          <p:cNvSpPr/>
          <p:nvPr/>
        </p:nvSpPr>
        <p:spPr>
          <a:xfrm>
            <a:off x="8001000" y="3175000"/>
            <a:ext cx="3429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9D1CC2-BB79-42F9-FDB9-C5DB310590A6}"/>
              </a:ext>
            </a:extLst>
          </p:cNvPr>
          <p:cNvSpPr/>
          <p:nvPr/>
        </p:nvSpPr>
        <p:spPr>
          <a:xfrm>
            <a:off x="8001000" y="3175000"/>
            <a:ext cx="3429000" cy="50800"/>
          </a:xfrm>
          <a:prstGeom prst="rect">
            <a:avLst/>
          </a:prstGeom>
          <a:solidFill>
            <a:srgbClr val="2E5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A8CAD9-1B41-D189-3454-D8FA5397A224}"/>
              </a:ext>
            </a:extLst>
          </p:cNvPr>
          <p:cNvSpPr txBox="1"/>
          <p:nvPr/>
        </p:nvSpPr>
        <p:spPr>
          <a:xfrm>
            <a:off x="8178800" y="33528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Technical Infrastructure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C17A43-7AA4-154A-507E-44280B7A36BA}"/>
              </a:ext>
            </a:extLst>
          </p:cNvPr>
          <p:cNvSpPr txBox="1"/>
          <p:nvPr/>
        </p:nvSpPr>
        <p:spPr>
          <a:xfrm>
            <a:off x="8178800" y="36322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WEIGHT 1/3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0175D2-2D0E-8523-A7D9-15EBB004958F}"/>
              </a:ext>
            </a:extLst>
          </p:cNvPr>
          <p:cNvSpPr txBox="1"/>
          <p:nvPr/>
        </p:nvSpPr>
        <p:spPr>
          <a:xfrm>
            <a:off x="8178800" y="38608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2C3E50"/>
                </a:solidFill>
                <a:latin typeface="Calibri" panose="020F0502020204030204" pitchFamily="34" charset="0"/>
              </a:rPr>
              <a:t>BTC and ETH nodes, mining hashrate, Lightning density, electricity, internet quality.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060F80-987E-DE6C-1473-5EC87761E8CA}"/>
              </a:ext>
            </a:extLst>
          </p:cNvPr>
          <p:cNvSpPr/>
          <p:nvPr/>
        </p:nvSpPr>
        <p:spPr>
          <a:xfrm>
            <a:off x="762000" y="5334000"/>
            <a:ext cx="10668000" cy="635000"/>
          </a:xfrm>
          <a:prstGeom prst="roundRect">
            <a:avLst>
              <a:gd name="adj" fmla="val 4000"/>
            </a:avLst>
          </a:prstGeom>
          <a:solidFill>
            <a:srgbClr val="0A16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F6159C-3376-BF33-F54D-0128F223A0DE}"/>
              </a:ext>
            </a:extLst>
          </p:cNvPr>
          <p:cNvSpPr txBox="1"/>
          <p:nvPr/>
        </p:nvSpPr>
        <p:spPr>
          <a:xfrm>
            <a:off x="965200" y="5486400"/>
            <a:ext cx="1016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D0DAE3"/>
                </a:solidFill>
                <a:latin typeface="Consolas" panose="020B0609020204030204" pitchFamily="49" charset="0"/>
              </a:rPr>
              <a:t>Overall = (Economic x 0.333) + (Regulatory x 0.333) + (Technical x 0.333)</a:t>
            </a:r>
          </a:p>
        </p:txBody>
      </p:sp>
    </p:spTree>
    <p:extLst>
      <p:ext uri="{BB962C8B-B14F-4D97-AF65-F5344CB8AC3E}">
        <p14:creationId xmlns:p14="http://schemas.microsoft.com/office/powerpoint/2010/main" val="44445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30EB2C-0068-9DAC-2879-83C8376AB361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1A7A4E"/>
                </a:solidFill>
                <a:latin typeface="Consolas" panose="020B0609020204030204" pitchFamily="49" charset="0"/>
              </a:rPr>
              <a:t>NICO TAYLOR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BE749-6534-A8D5-DF40-879E1E41225C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100" b="1">
                <a:solidFill>
                  <a:srgbClr val="1A7A4E"/>
                </a:solidFill>
                <a:latin typeface="Consolas" panose="020B0609020204030204" pitchFamily="49" charset="0"/>
              </a:rPr>
              <a:t>05  -  PILLAR I  -  ECONOMIC DIMENSION</a:t>
            </a:r>
            <a:endParaRPr lang="en-US" sz="1100" b="1">
              <a:solidFill>
                <a:srgbClr val="1A7A4E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2E954-8BD9-647D-FAFE-FEE2F0DFE536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1A2A3A"/>
                </a:solidFill>
                <a:latin typeface="Cambria" panose="02040503050406030204" pitchFamily="18" charset="0"/>
              </a:rPr>
              <a:t>How much economic value is flowing through blockchain, and is it speculation or productive use?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47B8B-9EB5-D7E7-CF20-468C8E986496}"/>
              </a:ext>
            </a:extLst>
          </p:cNvPr>
          <p:cNvSpPr txBox="1"/>
          <p:nvPr/>
        </p:nvSpPr>
        <p:spPr>
          <a:xfrm>
            <a:off x="762000" y="24765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0A4C6A"/>
                </a:solidFill>
                <a:latin typeface="Consolas" panose="020B0609020204030204" pitchFamily="49" charset="0"/>
              </a:rPr>
              <a:t>30%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69682-9D00-FE5E-8AD2-837C1724827C}"/>
              </a:ext>
            </a:extLst>
          </p:cNvPr>
          <p:cNvSpPr txBox="1"/>
          <p:nvPr/>
        </p:nvSpPr>
        <p:spPr>
          <a:xfrm>
            <a:off x="2032000" y="2476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Crypto Ownership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BF42D-4F1D-2EED-D6FF-85223E6612D8}"/>
              </a:ext>
            </a:extLst>
          </p:cNvPr>
          <p:cNvSpPr txBox="1"/>
          <p:nvPr/>
        </p:nvSpPr>
        <p:spPr>
          <a:xfrm>
            <a:off x="2032000" y="2730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Population penetration rate from Triple-A. The strongest signal of real consumer adoption.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7F8AE4-0E37-8409-199F-E65E41FDDCA2}"/>
              </a:ext>
            </a:extLst>
          </p:cNvPr>
          <p:cNvCxnSpPr/>
          <p:nvPr/>
        </p:nvCxnSpPr>
        <p:spPr>
          <a:xfrm>
            <a:off x="762000" y="3009900"/>
            <a:ext cx="10668000" cy="0"/>
          </a:xfrm>
          <a:prstGeom prst="line">
            <a:avLst/>
          </a:prstGeom>
          <a:ln w="6350">
            <a:solidFill>
              <a:srgbClr val="EBE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9E1B19B-2CD2-3947-2083-63B47E842009}"/>
              </a:ext>
            </a:extLst>
          </p:cNvPr>
          <p:cNvSpPr txBox="1"/>
          <p:nvPr/>
        </p:nvSpPr>
        <p:spPr>
          <a:xfrm>
            <a:off x="762000" y="31115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0A4C6A"/>
                </a:solidFill>
                <a:latin typeface="Consolas" panose="020B0609020204030204" pitchFamily="49" charset="0"/>
              </a:rPr>
              <a:t>20%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77538F-9D5B-365F-C2C2-7772555825BA}"/>
              </a:ext>
            </a:extLst>
          </p:cNvPr>
          <p:cNvSpPr txBox="1"/>
          <p:nvPr/>
        </p:nvSpPr>
        <p:spPr>
          <a:xfrm>
            <a:off x="2032000" y="3111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CEX Activity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E21C9-EFDE-7632-8231-D4BA05717888}"/>
              </a:ext>
            </a:extLst>
          </p:cNvPr>
          <p:cNvSpPr txBox="1"/>
          <p:nvPr/>
        </p:nvSpPr>
        <p:spPr>
          <a:xfrm>
            <a:off x="2032000" y="3365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Average of Chainalysis Retail and Institutional CEX sub-rankings, PPP-adjusted. Captures broad market participation.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31B93D-F953-6E80-8BA2-6AC5D9BA32C5}"/>
              </a:ext>
            </a:extLst>
          </p:cNvPr>
          <p:cNvCxnSpPr/>
          <p:nvPr/>
        </p:nvCxnSpPr>
        <p:spPr>
          <a:xfrm>
            <a:off x="762000" y="3644900"/>
            <a:ext cx="10668000" cy="0"/>
          </a:xfrm>
          <a:prstGeom prst="line">
            <a:avLst/>
          </a:prstGeom>
          <a:ln w="6350">
            <a:solidFill>
              <a:srgbClr val="EBE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BCDF63F-645D-DE87-CFFA-87A57A342B56}"/>
              </a:ext>
            </a:extLst>
          </p:cNvPr>
          <p:cNvSpPr txBox="1"/>
          <p:nvPr/>
        </p:nvSpPr>
        <p:spPr>
          <a:xfrm>
            <a:off x="762000" y="37465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0A4C6A"/>
                </a:solidFill>
                <a:latin typeface="Consolas" panose="020B0609020204030204" pitchFamily="49" charset="0"/>
              </a:rPr>
              <a:t>20%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9A860-0B34-410E-E2DD-9CBEADD5E12D}"/>
              </a:ext>
            </a:extLst>
          </p:cNvPr>
          <p:cNvSpPr txBox="1"/>
          <p:nvPr/>
        </p:nvSpPr>
        <p:spPr>
          <a:xfrm>
            <a:off x="2032000" y="3746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CEX Volume / GDP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B71BF-EC8B-A3DF-C655-91388235218B}"/>
              </a:ext>
            </a:extLst>
          </p:cNvPr>
          <p:cNvSpPr txBox="1"/>
          <p:nvPr/>
        </p:nvSpPr>
        <p:spPr>
          <a:xfrm>
            <a:off x="2032000" y="4000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CoinGecko 24h volume divided by national GDP, log-adjusted. Catches Lira, Won, and Naira-style speculation.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1409B8-73C6-4599-984E-63E586FA1175}"/>
              </a:ext>
            </a:extLst>
          </p:cNvPr>
          <p:cNvCxnSpPr/>
          <p:nvPr/>
        </p:nvCxnSpPr>
        <p:spPr>
          <a:xfrm>
            <a:off x="762000" y="4279900"/>
            <a:ext cx="10668000" cy="0"/>
          </a:xfrm>
          <a:prstGeom prst="line">
            <a:avLst/>
          </a:prstGeom>
          <a:ln w="6350">
            <a:solidFill>
              <a:srgbClr val="EBE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8B5016A-91EB-9467-A830-6F16B6DCE52F}"/>
              </a:ext>
            </a:extLst>
          </p:cNvPr>
          <p:cNvSpPr txBox="1"/>
          <p:nvPr/>
        </p:nvSpPr>
        <p:spPr>
          <a:xfrm>
            <a:off x="762000" y="43815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0A4C6A"/>
                </a:solidFill>
                <a:latin typeface="Consolas" panose="020B0609020204030204" pitchFamily="49" charset="0"/>
              </a:rPr>
              <a:t>20%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3B8727-0A7F-D564-B600-264FC24B19D1}"/>
              </a:ext>
            </a:extLst>
          </p:cNvPr>
          <p:cNvSpPr txBox="1"/>
          <p:nvPr/>
        </p:nvSpPr>
        <p:spPr>
          <a:xfrm>
            <a:off x="2032000" y="4381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Remittances per Capita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35928D-D876-6493-4854-A535DE31BB3B}"/>
              </a:ext>
            </a:extLst>
          </p:cNvPr>
          <p:cNvSpPr txBox="1"/>
          <p:nvPr/>
        </p:nvSpPr>
        <p:spPr>
          <a:xfrm>
            <a:off x="2032000" y="4635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World Bank inbound flows divided by population. Indicates real-world cross-border utility (Ukraine, Philippines, Bangladesh).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77496F-69F1-3DBC-4D6F-B716E0465A44}"/>
              </a:ext>
            </a:extLst>
          </p:cNvPr>
          <p:cNvCxnSpPr/>
          <p:nvPr/>
        </p:nvCxnSpPr>
        <p:spPr>
          <a:xfrm>
            <a:off x="762000" y="4914900"/>
            <a:ext cx="10668000" cy="0"/>
          </a:xfrm>
          <a:prstGeom prst="line">
            <a:avLst/>
          </a:prstGeom>
          <a:ln w="6350">
            <a:solidFill>
              <a:srgbClr val="EBE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53810D4-AA6B-46BD-95DA-08CDD536D682}"/>
              </a:ext>
            </a:extLst>
          </p:cNvPr>
          <p:cNvSpPr txBox="1"/>
          <p:nvPr/>
        </p:nvSpPr>
        <p:spPr>
          <a:xfrm>
            <a:off x="762000" y="50165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0A4C6A"/>
                </a:solidFill>
                <a:latin typeface="Consolas" panose="020B0609020204030204" pitchFamily="49" charset="0"/>
              </a:rPr>
              <a:t>10%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3FFE20-F998-68DE-D72E-715207C44A3A}"/>
              </a:ext>
            </a:extLst>
          </p:cNvPr>
          <p:cNvSpPr txBox="1"/>
          <p:nvPr/>
        </p:nvSpPr>
        <p:spPr>
          <a:xfrm>
            <a:off x="2032000" y="5016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DeFi Activity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D1D0B4-EDA6-BF0A-E3F4-88B7ED7E700E}"/>
              </a:ext>
            </a:extLst>
          </p:cNvPr>
          <p:cNvSpPr txBox="1"/>
          <p:nvPr/>
        </p:nvSpPr>
        <p:spPr>
          <a:xfrm>
            <a:off x="2032000" y="5270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Chainalysis DeFi value-received sub-rank. Down-weighted because it is volatile and concentrated in a small group.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066168A-9219-9E4E-9409-240A95BDD23B}"/>
              </a:ext>
            </a:extLst>
          </p:cNvPr>
          <p:cNvCxnSpPr/>
          <p:nvPr/>
        </p:nvCxnSpPr>
        <p:spPr>
          <a:xfrm>
            <a:off x="762000" y="5549900"/>
            <a:ext cx="10668000" cy="0"/>
          </a:xfrm>
          <a:prstGeom prst="line">
            <a:avLst/>
          </a:prstGeom>
          <a:ln w="6350">
            <a:solidFill>
              <a:srgbClr val="EBE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701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DEFFFA-D9CB-0F6A-AA86-8FC394FA9E8A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2E5FA1"/>
                </a:solidFill>
                <a:latin typeface="Consolas" panose="020B0609020204030204" pitchFamily="49" charset="0"/>
              </a:rPr>
              <a:t>FEDERICO BECERRA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1F83A-3903-CFA0-CF18-48394240F9AD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b="1">
                <a:solidFill>
                  <a:srgbClr val="2E5FA1"/>
                </a:solidFill>
                <a:latin typeface="Consolas" panose="020B0609020204030204" pitchFamily="49" charset="0"/>
              </a:rPr>
              <a:t>06  -  PILLAR II  -  TECHNICAL INFRASTRUCTURE</a:t>
            </a:r>
            <a:endParaRPr lang="en-US" sz="1100" b="1">
              <a:solidFill>
                <a:srgbClr val="2E5FA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5EC6D-0809-0596-187D-791D9E4B1362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1A2A3A"/>
                </a:solidFill>
                <a:latin typeface="Cambria" panose="02040503050406030204" pitchFamily="18" charset="0"/>
              </a:rPr>
              <a:t>How is blockchain infrastructure being built and where?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EBD3F-A6F6-7BC4-6860-637785DE8420}"/>
              </a:ext>
            </a:extLst>
          </p:cNvPr>
          <p:cNvSpPr txBox="1"/>
          <p:nvPr/>
        </p:nvSpPr>
        <p:spPr>
          <a:xfrm>
            <a:off x="762000" y="22225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2E5FA1"/>
                </a:solidFill>
                <a:latin typeface="Consolas" panose="020B0609020204030204" pitchFamily="49" charset="0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C0D3BF-FF51-866F-AE37-79367C534FDF}"/>
              </a:ext>
            </a:extLst>
          </p:cNvPr>
          <p:cNvSpPr txBox="1"/>
          <p:nvPr/>
        </p:nvSpPr>
        <p:spPr>
          <a:xfrm>
            <a:off x="2032000" y="2222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Bitcoin Nodes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85FB8A-3123-855E-0386-01B500F79F3C}"/>
              </a:ext>
            </a:extLst>
          </p:cNvPr>
          <p:cNvSpPr txBox="1"/>
          <p:nvPr/>
        </p:nvSpPr>
        <p:spPr>
          <a:xfrm>
            <a:off x="2032000" y="2476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Reachable BTC nodes per 100k internet users (Bitnodes).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F62500-5E9D-283B-5BB5-FC27FDB8BADB}"/>
              </a:ext>
            </a:extLst>
          </p:cNvPr>
          <p:cNvCxnSpPr/>
          <p:nvPr/>
        </p:nvCxnSpPr>
        <p:spPr>
          <a:xfrm>
            <a:off x="762000" y="2755900"/>
            <a:ext cx="10668000" cy="0"/>
          </a:xfrm>
          <a:prstGeom prst="line">
            <a:avLst/>
          </a:prstGeom>
          <a:ln w="6350">
            <a:solidFill>
              <a:srgbClr val="EBE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5DD800-A45C-C6C6-6503-C8E2722DFF2F}"/>
              </a:ext>
            </a:extLst>
          </p:cNvPr>
          <p:cNvSpPr txBox="1"/>
          <p:nvPr/>
        </p:nvSpPr>
        <p:spPr>
          <a:xfrm>
            <a:off x="762000" y="28575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2E5FA1"/>
                </a:solidFill>
                <a:latin typeface="Consolas" panose="020B0609020204030204" pitchFamily="49" charset="0"/>
              </a:rPr>
              <a:t>25%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8590AB-5202-2AAF-3347-EE7DF218E6E1}"/>
              </a:ext>
            </a:extLst>
          </p:cNvPr>
          <p:cNvSpPr txBox="1"/>
          <p:nvPr/>
        </p:nvSpPr>
        <p:spPr>
          <a:xfrm>
            <a:off x="2032000" y="2857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Ethereum Nodes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B5F7A-C995-7A2C-D47F-77E8968B9848}"/>
              </a:ext>
            </a:extLst>
          </p:cNvPr>
          <p:cNvSpPr txBox="1"/>
          <p:nvPr/>
        </p:nvSpPr>
        <p:spPr>
          <a:xfrm>
            <a:off x="2032000" y="3111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Reachable ETH nodes per 100k internet users (Ethernodes).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0A7A9F-053B-FEAD-1ACC-BC0B87C47603}"/>
              </a:ext>
            </a:extLst>
          </p:cNvPr>
          <p:cNvCxnSpPr/>
          <p:nvPr/>
        </p:nvCxnSpPr>
        <p:spPr>
          <a:xfrm>
            <a:off x="762000" y="3390900"/>
            <a:ext cx="10668000" cy="0"/>
          </a:xfrm>
          <a:prstGeom prst="line">
            <a:avLst/>
          </a:prstGeom>
          <a:ln w="6350">
            <a:solidFill>
              <a:srgbClr val="EBE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849B7A-FEDC-F576-F25B-90E6D4B9E652}"/>
              </a:ext>
            </a:extLst>
          </p:cNvPr>
          <p:cNvSpPr txBox="1"/>
          <p:nvPr/>
        </p:nvSpPr>
        <p:spPr>
          <a:xfrm>
            <a:off x="762000" y="34925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2E5FA1"/>
                </a:solidFill>
                <a:latin typeface="Consolas" panose="020B0609020204030204" pitchFamily="49" charset="0"/>
              </a:rPr>
              <a:t>20%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E379A9-403A-42DC-5847-368149A02C7E}"/>
              </a:ext>
            </a:extLst>
          </p:cNvPr>
          <p:cNvSpPr txBox="1"/>
          <p:nvPr/>
        </p:nvSpPr>
        <p:spPr>
          <a:xfrm>
            <a:off x="2032000" y="3492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Lightning Network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E63198-9DCB-A8AF-24B6-10CAF68AC16C}"/>
              </a:ext>
            </a:extLst>
          </p:cNvPr>
          <p:cNvSpPr txBox="1"/>
          <p:nvPr/>
        </p:nvSpPr>
        <p:spPr>
          <a:xfrm>
            <a:off x="2032000" y="3746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LN nodes per 100k internet users (mempool.emzy.de). A proxy for second-layer adoption depth.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B8159F-C244-E04F-2C32-F68EC2192DE0}"/>
              </a:ext>
            </a:extLst>
          </p:cNvPr>
          <p:cNvCxnSpPr/>
          <p:nvPr/>
        </p:nvCxnSpPr>
        <p:spPr>
          <a:xfrm>
            <a:off x="762000" y="4025900"/>
            <a:ext cx="10668000" cy="0"/>
          </a:xfrm>
          <a:prstGeom prst="line">
            <a:avLst/>
          </a:prstGeom>
          <a:ln w="6350">
            <a:solidFill>
              <a:srgbClr val="EBE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815327A-2B50-700E-8CA7-ED07DD32E02D}"/>
              </a:ext>
            </a:extLst>
          </p:cNvPr>
          <p:cNvSpPr txBox="1"/>
          <p:nvPr/>
        </p:nvSpPr>
        <p:spPr>
          <a:xfrm>
            <a:off x="762000" y="41275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2E5FA1"/>
                </a:solidFill>
                <a:latin typeface="Consolas" panose="020B0609020204030204" pitchFamily="49" charset="0"/>
              </a:rPr>
              <a:t>15%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19A46A-8E3B-285E-815B-2276D86E1253}"/>
              </a:ext>
            </a:extLst>
          </p:cNvPr>
          <p:cNvSpPr txBox="1"/>
          <p:nvPr/>
        </p:nvSpPr>
        <p:spPr>
          <a:xfrm>
            <a:off x="2032000" y="4127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Mining Hashrate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8A6CFF-1D0D-0A34-C93A-BBDBA2D58788}"/>
              </a:ext>
            </a:extLst>
          </p:cNvPr>
          <p:cNvSpPr txBox="1"/>
          <p:nvPr/>
        </p:nvSpPr>
        <p:spPr>
          <a:xfrm>
            <a:off x="2032000" y="4381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Country share of global BTC hashrate (Hashrate Index). Used directly because mining is geographically concentrated.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3994F7-2870-E695-BDBE-9377920A3384}"/>
              </a:ext>
            </a:extLst>
          </p:cNvPr>
          <p:cNvCxnSpPr/>
          <p:nvPr/>
        </p:nvCxnSpPr>
        <p:spPr>
          <a:xfrm>
            <a:off x="762000" y="4660900"/>
            <a:ext cx="10668000" cy="0"/>
          </a:xfrm>
          <a:prstGeom prst="line">
            <a:avLst/>
          </a:prstGeom>
          <a:ln w="6350">
            <a:solidFill>
              <a:srgbClr val="EBE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8491F21-F4D2-602E-D82B-62B278BDD02B}"/>
              </a:ext>
            </a:extLst>
          </p:cNvPr>
          <p:cNvSpPr txBox="1"/>
          <p:nvPr/>
        </p:nvSpPr>
        <p:spPr>
          <a:xfrm>
            <a:off x="762000" y="47625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2E5FA1"/>
                </a:solidFill>
                <a:latin typeface="Consolas" panose="020B0609020204030204" pitchFamily="49" charset="0"/>
              </a:rPr>
              <a:t>15%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38157C-8D5D-001F-E5FF-565D4C262515}"/>
              </a:ext>
            </a:extLst>
          </p:cNvPr>
          <p:cNvSpPr txBox="1"/>
          <p:nvPr/>
        </p:nvSpPr>
        <p:spPr>
          <a:xfrm>
            <a:off x="2032000" y="4762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Enabling Environment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82AE78-17E6-A6EA-64AA-5CFE101361A8}"/>
              </a:ext>
            </a:extLst>
          </p:cNvPr>
          <p:cNvSpPr txBox="1"/>
          <p:nvPr/>
        </p:nvSpPr>
        <p:spPr>
          <a:xfrm>
            <a:off x="2032000" y="5016500"/>
            <a:ext cx="939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Composite of internet penetration (40%), electricity access (30%), and average internet speed (30%).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505B67-313F-332F-10A9-41FA98B1DD21}"/>
              </a:ext>
            </a:extLst>
          </p:cNvPr>
          <p:cNvCxnSpPr/>
          <p:nvPr/>
        </p:nvCxnSpPr>
        <p:spPr>
          <a:xfrm>
            <a:off x="762000" y="5295900"/>
            <a:ext cx="10668000" cy="0"/>
          </a:xfrm>
          <a:prstGeom prst="line">
            <a:avLst/>
          </a:prstGeom>
          <a:ln w="6350">
            <a:solidFill>
              <a:srgbClr val="EBE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421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6BCB00-808C-E934-F1D3-EB6E31AA8114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2E5FA1"/>
                </a:solidFill>
                <a:latin typeface="Consolas" panose="020B0609020204030204" pitchFamily="49" charset="0"/>
              </a:rPr>
              <a:t>FEDERICO BECERRA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CC232-FCF9-91C5-A375-760AF417CBF2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E5FA1"/>
                </a:solidFill>
                <a:latin typeface="Consolas" panose="020B0609020204030204" pitchFamily="49" charset="0"/>
              </a:rPr>
              <a:t>07  -  WHY THIS TECHNICAL WEIGHTING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162F7-A8F3-8D3C-1577-C830D8174DFC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>
                <a:solidFill>
                  <a:srgbClr val="1A2A3A"/>
                </a:solidFill>
                <a:latin typeface="Cambria" panose="02040503050406030204" pitchFamily="18" charset="0"/>
              </a:rPr>
              <a:t>The reasoning behind the five technical indicators.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E42F90-F699-498E-036D-A93EA95EF519}"/>
              </a:ext>
            </a:extLst>
          </p:cNvPr>
          <p:cNvCxnSpPr/>
          <p:nvPr/>
        </p:nvCxnSpPr>
        <p:spPr>
          <a:xfrm>
            <a:off x="762000" y="2387600"/>
            <a:ext cx="177800" cy="0"/>
          </a:xfrm>
          <a:prstGeom prst="line">
            <a:avLst/>
          </a:prstGeom>
          <a:ln w="19050">
            <a:solidFill>
              <a:srgbClr val="2E5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9347AB3-4178-D7F0-869F-41FC1BD679CB}"/>
              </a:ext>
            </a:extLst>
          </p:cNvPr>
          <p:cNvSpPr txBox="1"/>
          <p:nvPr/>
        </p:nvSpPr>
        <p:spPr>
          <a:xfrm>
            <a:off x="1041400" y="2286000"/>
            <a:ext cx="1038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2C3E50"/>
                </a:solidFill>
                <a:latin typeface="Calibri" panose="020F0502020204030204" pitchFamily="34" charset="0"/>
              </a:rPr>
              <a:t>Balances decentralization and economic commitment. Nodes (BTC / ETH / LN) measure decentralization and participation, while hashrate captures capital-intensive commitment to the network.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5A3486-624C-913A-CB53-7BDF9DD52809}"/>
              </a:ext>
            </a:extLst>
          </p:cNvPr>
          <p:cNvCxnSpPr/>
          <p:nvPr/>
        </p:nvCxnSpPr>
        <p:spPr>
          <a:xfrm>
            <a:off x="762000" y="3200400"/>
            <a:ext cx="177800" cy="0"/>
          </a:xfrm>
          <a:prstGeom prst="line">
            <a:avLst/>
          </a:prstGeom>
          <a:ln w="19050">
            <a:solidFill>
              <a:srgbClr val="2E5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14BD37C-108F-38AF-1138-0DB2CB188D37}"/>
              </a:ext>
            </a:extLst>
          </p:cNvPr>
          <p:cNvSpPr txBox="1"/>
          <p:nvPr/>
        </p:nvSpPr>
        <p:spPr>
          <a:xfrm>
            <a:off x="1041400" y="3098800"/>
            <a:ext cx="1038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2C3E50"/>
                </a:solidFill>
                <a:latin typeface="Calibri" panose="020F0502020204030204" pitchFamily="34" charset="0"/>
              </a:rPr>
              <a:t>Per-100k-internet-users normalization improves cross-country comparability. Makes small but highly engaged countries comparable to large economies.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5D013E-6DB0-4D53-DB4A-635469896282}"/>
              </a:ext>
            </a:extLst>
          </p:cNvPr>
          <p:cNvCxnSpPr/>
          <p:nvPr/>
        </p:nvCxnSpPr>
        <p:spPr>
          <a:xfrm>
            <a:off x="762000" y="4013200"/>
            <a:ext cx="177800" cy="0"/>
          </a:xfrm>
          <a:prstGeom prst="line">
            <a:avLst/>
          </a:prstGeom>
          <a:ln w="19050">
            <a:solidFill>
              <a:srgbClr val="2E5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4AE18C0-7A40-E30B-DBB9-4519134B47CD}"/>
              </a:ext>
            </a:extLst>
          </p:cNvPr>
          <p:cNvSpPr txBox="1"/>
          <p:nvPr/>
        </p:nvSpPr>
        <p:spPr>
          <a:xfrm>
            <a:off x="1041400" y="3911600"/>
            <a:ext cx="1038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2C3E50"/>
                </a:solidFill>
                <a:latin typeface="Calibri" panose="020F0502020204030204" pitchFamily="34" charset="0"/>
              </a:rPr>
              <a:t>Incorporates real-world infrastructure constraints. Crypto infrastructure cannot scale without underlying connectivity and energy systems.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7E9674-26E1-E13C-1147-F6F5F81C341C}"/>
              </a:ext>
            </a:extLst>
          </p:cNvPr>
          <p:cNvCxnSpPr/>
          <p:nvPr/>
        </p:nvCxnSpPr>
        <p:spPr>
          <a:xfrm>
            <a:off x="762000" y="4826000"/>
            <a:ext cx="177800" cy="0"/>
          </a:xfrm>
          <a:prstGeom prst="line">
            <a:avLst/>
          </a:prstGeom>
          <a:ln w="19050">
            <a:solidFill>
              <a:srgbClr val="2E5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53652C6-239D-CB74-209E-CB062453B925}"/>
              </a:ext>
            </a:extLst>
          </p:cNvPr>
          <p:cNvSpPr txBox="1"/>
          <p:nvPr/>
        </p:nvSpPr>
        <p:spPr>
          <a:xfrm>
            <a:off x="1041400" y="4724400"/>
            <a:ext cx="1038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2C3E50"/>
                </a:solidFill>
                <a:latin typeface="Calibri" panose="020F0502020204030204" pitchFamily="34" charset="0"/>
              </a:rPr>
              <a:t>Weights reflect ecosystem importance. Prioritizes core protocol infrastructure (BTC and ETH at 25% each), while including scalability and security layers (LN 20%, Mining 15%).</a:t>
            </a:r>
          </a:p>
        </p:txBody>
      </p:sp>
    </p:spTree>
    <p:extLst>
      <p:ext uri="{BB962C8B-B14F-4D97-AF65-F5344CB8AC3E}">
        <p14:creationId xmlns:p14="http://schemas.microsoft.com/office/powerpoint/2010/main" val="33917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42B65A-63AF-C661-AF2F-066736EEAC66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9B5A30"/>
                </a:solidFill>
                <a:latin typeface="Consolas" panose="020B0609020204030204" pitchFamily="49" charset="0"/>
              </a:rPr>
              <a:t>ALON / ARI / ALEXIS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1B8E0-39C3-7392-2E99-89465F3BC830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9B5A30"/>
                </a:solidFill>
                <a:latin typeface="Consolas" panose="020B0609020204030204" pitchFamily="49" charset="0"/>
              </a:rPr>
              <a:t>08  -  PILLAR III  -  REGULATORY DIMENSION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A2430-6176-D40D-F75C-43F4906F2254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1A2A3A"/>
                </a:solidFill>
                <a:latin typeface="Cambria" panose="02040503050406030204" pitchFamily="18" charset="0"/>
              </a:rPr>
              <a:t>How clear, comprehensive, and enforceable is each country's framework?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1868FA-CC91-F7BC-E735-B392DA2B388A}"/>
              </a:ext>
            </a:extLst>
          </p:cNvPr>
          <p:cNvSpPr txBox="1"/>
          <p:nvPr/>
        </p:nvSpPr>
        <p:spPr>
          <a:xfrm>
            <a:off x="762000" y="20955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C3E50"/>
                </a:solidFill>
                <a:latin typeface="Calibri" panose="020F0502020204030204" pitchFamily="34" charset="0"/>
              </a:rPr>
              <a:t>Each country is rated on six sub-dimensions, scored 1 (absent / hostile), 2 (partial), or 3 (clear and codified). Sums divided by 18 normalize to 0 to 1. Equal weight on each: no single dimension is sufficient on its own.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C835CF1-8E72-1CB2-48B3-04DC2683EB1C}"/>
              </a:ext>
            </a:extLst>
          </p:cNvPr>
          <p:cNvSpPr/>
          <p:nvPr/>
        </p:nvSpPr>
        <p:spPr>
          <a:xfrm>
            <a:off x="762000" y="3111500"/>
            <a:ext cx="34290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FEAEB-02FE-EB7F-1AD4-3C46920CB1FC}"/>
              </a:ext>
            </a:extLst>
          </p:cNvPr>
          <p:cNvSpPr/>
          <p:nvPr/>
        </p:nvSpPr>
        <p:spPr>
          <a:xfrm>
            <a:off x="762000" y="3111500"/>
            <a:ext cx="3429000" cy="50800"/>
          </a:xfrm>
          <a:prstGeom prst="rect">
            <a:avLst/>
          </a:prstGeom>
          <a:solidFill>
            <a:srgbClr val="9B5A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62A60-4D55-D3EB-3922-3E94B8CA6F5B}"/>
              </a:ext>
            </a:extLst>
          </p:cNvPr>
          <p:cNvSpPr txBox="1"/>
          <p:nvPr/>
        </p:nvSpPr>
        <p:spPr>
          <a:xfrm>
            <a:off x="939800" y="32893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Exchange Legality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9D257-E40C-4268-11C8-A9FF6FAFA203}"/>
              </a:ext>
            </a:extLst>
          </p:cNvPr>
          <p:cNvSpPr txBox="1"/>
          <p:nvPr/>
        </p:nvSpPr>
        <p:spPr>
          <a:xfrm>
            <a:off x="939800" y="35687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WEIGHT 1/6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34944F-F1D1-89B0-4C1C-3C0F0C595A01}"/>
              </a:ext>
            </a:extLst>
          </p:cNvPr>
          <p:cNvSpPr txBox="1"/>
          <p:nvPr/>
        </p:nvSpPr>
        <p:spPr>
          <a:xfrm>
            <a:off x="939800" y="37973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2C3E50"/>
                </a:solidFill>
                <a:latin typeface="Calibri" panose="020F0502020204030204" pitchFamily="34" charset="0"/>
              </a:rPr>
              <a:t>Whether centralized exchanges can operate legally at all in the jurisdiction.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A6BBBB-9712-9373-3E88-37E461181401}"/>
              </a:ext>
            </a:extLst>
          </p:cNvPr>
          <p:cNvSpPr/>
          <p:nvPr/>
        </p:nvSpPr>
        <p:spPr>
          <a:xfrm>
            <a:off x="4381500" y="3111500"/>
            <a:ext cx="34290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F9BAAD-22E5-EB5C-5AAC-E62347DE2CFB}"/>
              </a:ext>
            </a:extLst>
          </p:cNvPr>
          <p:cNvSpPr/>
          <p:nvPr/>
        </p:nvSpPr>
        <p:spPr>
          <a:xfrm>
            <a:off x="4381500" y="3111500"/>
            <a:ext cx="3429000" cy="50800"/>
          </a:xfrm>
          <a:prstGeom prst="rect">
            <a:avLst/>
          </a:prstGeom>
          <a:solidFill>
            <a:srgbClr val="9B5A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42F5A3-FC62-180D-7390-40999647DA8E}"/>
              </a:ext>
            </a:extLst>
          </p:cNvPr>
          <p:cNvSpPr txBox="1"/>
          <p:nvPr/>
        </p:nvSpPr>
        <p:spPr>
          <a:xfrm>
            <a:off x="4559300" y="32893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Licensing Framework (VASP)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F7EE6C-8AF9-9B28-D97D-B9BE53C8E57E}"/>
              </a:ext>
            </a:extLst>
          </p:cNvPr>
          <p:cNvSpPr txBox="1"/>
          <p:nvPr/>
        </p:nvSpPr>
        <p:spPr>
          <a:xfrm>
            <a:off x="4559300" y="35687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WEIGHT 1/6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66CE72-06A0-16F9-5C12-C14F6BB82933}"/>
              </a:ext>
            </a:extLst>
          </p:cNvPr>
          <p:cNvSpPr txBox="1"/>
          <p:nvPr/>
        </p:nvSpPr>
        <p:spPr>
          <a:xfrm>
            <a:off x="4559300" y="37973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2C3E50"/>
                </a:solidFill>
                <a:latin typeface="Calibri" panose="020F0502020204030204" pitchFamily="34" charset="0"/>
              </a:rPr>
              <a:t>Defined licensing regime for centralized exchanges and other Virtual Asset Service Providers.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4178F4-6461-55FC-2710-D34680940221}"/>
              </a:ext>
            </a:extLst>
          </p:cNvPr>
          <p:cNvSpPr/>
          <p:nvPr/>
        </p:nvSpPr>
        <p:spPr>
          <a:xfrm>
            <a:off x="8001000" y="3111500"/>
            <a:ext cx="34290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CD428C-8A97-FFA9-2B5D-08B24224406D}"/>
              </a:ext>
            </a:extLst>
          </p:cNvPr>
          <p:cNvSpPr/>
          <p:nvPr/>
        </p:nvSpPr>
        <p:spPr>
          <a:xfrm>
            <a:off x="8001000" y="3111500"/>
            <a:ext cx="3429000" cy="50800"/>
          </a:xfrm>
          <a:prstGeom prst="rect">
            <a:avLst/>
          </a:prstGeom>
          <a:solidFill>
            <a:srgbClr val="9B5A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9EEF91-904F-7DB2-895B-345CDD463DDD}"/>
              </a:ext>
            </a:extLst>
          </p:cNvPr>
          <p:cNvSpPr txBox="1"/>
          <p:nvPr/>
        </p:nvSpPr>
        <p:spPr>
          <a:xfrm>
            <a:off x="8178800" y="32893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Stablecoin Regulation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492F07-3CDC-0BF7-BD57-235E7747AC38}"/>
              </a:ext>
            </a:extLst>
          </p:cNvPr>
          <p:cNvSpPr txBox="1"/>
          <p:nvPr/>
        </p:nvSpPr>
        <p:spPr>
          <a:xfrm>
            <a:off x="8178800" y="35687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WEIGHT 1/6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2FA516-7571-9860-60F0-3EE368D655EB}"/>
              </a:ext>
            </a:extLst>
          </p:cNvPr>
          <p:cNvSpPr txBox="1"/>
          <p:nvPr/>
        </p:nvSpPr>
        <p:spPr>
          <a:xfrm>
            <a:off x="8178800" y="37973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2C3E50"/>
                </a:solidFill>
                <a:latin typeface="Calibri" panose="020F0502020204030204" pitchFamily="34" charset="0"/>
              </a:rPr>
              <a:t>Specific legislation governing stablecoin issuance, reserves, and consumer protection.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FE6A870-970D-75D9-A746-23FFCE54D7BA}"/>
              </a:ext>
            </a:extLst>
          </p:cNvPr>
          <p:cNvSpPr/>
          <p:nvPr/>
        </p:nvSpPr>
        <p:spPr>
          <a:xfrm>
            <a:off x="762000" y="4445000"/>
            <a:ext cx="34290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3B9F51-2988-9DFC-4300-D06CE7D05BA2}"/>
              </a:ext>
            </a:extLst>
          </p:cNvPr>
          <p:cNvSpPr/>
          <p:nvPr/>
        </p:nvSpPr>
        <p:spPr>
          <a:xfrm>
            <a:off x="762000" y="4445000"/>
            <a:ext cx="3429000" cy="50800"/>
          </a:xfrm>
          <a:prstGeom prst="rect">
            <a:avLst/>
          </a:prstGeom>
          <a:solidFill>
            <a:srgbClr val="9B5A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FEF0FC-649F-453C-0877-FED833578EBA}"/>
              </a:ext>
            </a:extLst>
          </p:cNvPr>
          <p:cNvSpPr txBox="1"/>
          <p:nvPr/>
        </p:nvSpPr>
        <p:spPr>
          <a:xfrm>
            <a:off x="939800" y="46228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Tax Clarity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B5B786-EB18-D7C3-BAC8-1A83536B6A79}"/>
              </a:ext>
            </a:extLst>
          </p:cNvPr>
          <p:cNvSpPr txBox="1"/>
          <p:nvPr/>
        </p:nvSpPr>
        <p:spPr>
          <a:xfrm>
            <a:off x="939800" y="49022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WEIGHT 1/6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A8C91F-8FCA-68D9-7B63-0650CAED0151}"/>
              </a:ext>
            </a:extLst>
          </p:cNvPr>
          <p:cNvSpPr txBox="1"/>
          <p:nvPr/>
        </p:nvSpPr>
        <p:spPr>
          <a:xfrm>
            <a:off x="939800" y="51308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2C3E50"/>
                </a:solidFill>
                <a:latin typeface="Calibri" panose="020F0502020204030204" pitchFamily="34" charset="0"/>
              </a:rPr>
              <a:t>Codified rules for taxing crypto gains, income, and corporate holdings.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45D79EA-6174-AC67-82EE-9AA22C119A6F}"/>
              </a:ext>
            </a:extLst>
          </p:cNvPr>
          <p:cNvSpPr/>
          <p:nvPr/>
        </p:nvSpPr>
        <p:spPr>
          <a:xfrm>
            <a:off x="4381500" y="4445000"/>
            <a:ext cx="34290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0DBBBE-BFF5-A32E-3B27-8FA37049D8AD}"/>
              </a:ext>
            </a:extLst>
          </p:cNvPr>
          <p:cNvSpPr/>
          <p:nvPr/>
        </p:nvSpPr>
        <p:spPr>
          <a:xfrm>
            <a:off x="4381500" y="4445000"/>
            <a:ext cx="3429000" cy="50800"/>
          </a:xfrm>
          <a:prstGeom prst="rect">
            <a:avLst/>
          </a:prstGeom>
          <a:solidFill>
            <a:srgbClr val="9B5A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44E453-2D31-90F8-1492-EDAF65E40C0E}"/>
              </a:ext>
            </a:extLst>
          </p:cNvPr>
          <p:cNvSpPr txBox="1"/>
          <p:nvPr/>
        </p:nvSpPr>
        <p:spPr>
          <a:xfrm>
            <a:off x="4559300" y="46228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Banking System Access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A07AE6-E644-7E91-B117-F35B2AAB7802}"/>
              </a:ext>
            </a:extLst>
          </p:cNvPr>
          <p:cNvSpPr txBox="1"/>
          <p:nvPr/>
        </p:nvSpPr>
        <p:spPr>
          <a:xfrm>
            <a:off x="4559300" y="49022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WEIGHT 1/6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85118C-94DD-E352-F5E2-1F38EE575AB1}"/>
              </a:ext>
            </a:extLst>
          </p:cNvPr>
          <p:cNvSpPr txBox="1"/>
          <p:nvPr/>
        </p:nvSpPr>
        <p:spPr>
          <a:xfrm>
            <a:off x="4559300" y="51308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2C3E50"/>
                </a:solidFill>
                <a:latin typeface="Calibri" panose="020F0502020204030204" pitchFamily="34" charset="0"/>
              </a:rPr>
              <a:t>Whether crypto businesses can access traditional banking rails legally.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0A32851-D7A7-880B-5A92-0356A61CEF2D}"/>
              </a:ext>
            </a:extLst>
          </p:cNvPr>
          <p:cNvSpPr/>
          <p:nvPr/>
        </p:nvSpPr>
        <p:spPr>
          <a:xfrm>
            <a:off x="8001000" y="4445000"/>
            <a:ext cx="3429000" cy="120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CA773B-BD0B-CF49-9A69-1E26C5C65691}"/>
              </a:ext>
            </a:extLst>
          </p:cNvPr>
          <p:cNvSpPr/>
          <p:nvPr/>
        </p:nvSpPr>
        <p:spPr>
          <a:xfrm>
            <a:off x="8001000" y="4445000"/>
            <a:ext cx="3429000" cy="50800"/>
          </a:xfrm>
          <a:prstGeom prst="rect">
            <a:avLst/>
          </a:prstGeom>
          <a:solidFill>
            <a:srgbClr val="9B5A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A77E8D-3BB9-1218-FBD4-31067E2C8C01}"/>
              </a:ext>
            </a:extLst>
          </p:cNvPr>
          <p:cNvSpPr txBox="1"/>
          <p:nvPr/>
        </p:nvSpPr>
        <p:spPr>
          <a:xfrm>
            <a:off x="8178800" y="46228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Enforcement &amp; Stance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3C0A7A-72A8-DC3D-CEDC-A87C7BF1CA83}"/>
              </a:ext>
            </a:extLst>
          </p:cNvPr>
          <p:cNvSpPr txBox="1"/>
          <p:nvPr/>
        </p:nvSpPr>
        <p:spPr>
          <a:xfrm>
            <a:off x="8178800" y="49022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WEIGHT 1/6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143F7C-4670-C2A0-1188-68492323A364}"/>
              </a:ext>
            </a:extLst>
          </p:cNvPr>
          <p:cNvSpPr txBox="1"/>
          <p:nvPr/>
        </p:nvSpPr>
        <p:spPr>
          <a:xfrm>
            <a:off x="8178800" y="51308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2C3E50"/>
                </a:solidFill>
                <a:latin typeface="Calibri" panose="020F0502020204030204" pitchFamily="34" charset="0"/>
              </a:rPr>
              <a:t>Active, observable enforcement of the rules that exist on paper, plus government posture.</a:t>
            </a:r>
          </a:p>
        </p:txBody>
      </p:sp>
    </p:spTree>
    <p:extLst>
      <p:ext uri="{BB962C8B-B14F-4D97-AF65-F5344CB8AC3E}">
        <p14:creationId xmlns:p14="http://schemas.microsoft.com/office/powerpoint/2010/main" val="4126354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3437BE-2E88-0CEF-833B-16DBA4731A5D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9B5A30"/>
                </a:solidFill>
                <a:latin typeface="Consolas" panose="020B0609020204030204" pitchFamily="49" charset="0"/>
              </a:rPr>
              <a:t>ALON / ARI / ALEXIS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60541-CE37-6BE3-5CBE-14C602A03AEB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9B5A30"/>
                </a:solidFill>
                <a:latin typeface="Consolas" panose="020B0609020204030204" pitchFamily="49" charset="0"/>
              </a:rPr>
              <a:t>09  -  SCORE INTERPRETATION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9014D7-A812-C787-37BD-6F86663B71BE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1A2A3A"/>
                </a:solidFill>
                <a:latin typeface="Cambria" panose="02040503050406030204" pitchFamily="18" charset="0"/>
              </a:rPr>
              <a:t>Higher scores reflect clarity and usability, not strictness.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DC3F789-7D35-C643-680F-55F1EB10D51F}"/>
              </a:ext>
            </a:extLst>
          </p:cNvPr>
          <p:cNvSpPr/>
          <p:nvPr/>
        </p:nvSpPr>
        <p:spPr>
          <a:xfrm>
            <a:off x="762000" y="2286000"/>
            <a:ext cx="5207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592A7A-F0C7-404E-3E9A-C9FD4D3120CA}"/>
              </a:ext>
            </a:extLst>
          </p:cNvPr>
          <p:cNvSpPr/>
          <p:nvPr/>
        </p:nvSpPr>
        <p:spPr>
          <a:xfrm>
            <a:off x="762000" y="2286000"/>
            <a:ext cx="50800" cy="16510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F9034-526C-B8DA-8EA3-5D6F8049FDD0}"/>
              </a:ext>
            </a:extLst>
          </p:cNvPr>
          <p:cNvSpPr txBox="1"/>
          <p:nvPr/>
        </p:nvSpPr>
        <p:spPr>
          <a:xfrm>
            <a:off x="939800" y="2438400"/>
            <a:ext cx="4851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2E7D32"/>
                </a:solidFill>
                <a:latin typeface="Consolas" panose="020B0609020204030204" pitchFamily="49" charset="0"/>
              </a:rPr>
              <a:t>0.8 - 1.0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7609FE-27F8-86CB-5E49-6693FD83C521}"/>
              </a:ext>
            </a:extLst>
          </p:cNvPr>
          <p:cNvSpPr txBox="1"/>
          <p:nvPr/>
        </p:nvSpPr>
        <p:spPr>
          <a:xfrm>
            <a:off x="939800" y="2667000"/>
            <a:ext cx="4851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Comprehensive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C9D40-324D-4EA6-DDE7-407A16ADFB44}"/>
              </a:ext>
            </a:extLst>
          </p:cNvPr>
          <p:cNvSpPr txBox="1"/>
          <p:nvPr/>
        </p:nvSpPr>
        <p:spPr>
          <a:xfrm>
            <a:off x="939800" y="2971800"/>
            <a:ext cx="4851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Clear legal frameworks across all categories. Businesses and users can operate with high certainty.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DCC1F8-2E1C-FE7B-5D54-EE5C2E433511}"/>
              </a:ext>
            </a:extLst>
          </p:cNvPr>
          <p:cNvSpPr/>
          <p:nvPr/>
        </p:nvSpPr>
        <p:spPr>
          <a:xfrm>
            <a:off x="6223000" y="2286000"/>
            <a:ext cx="5207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552C78-C0CA-DC1F-955E-3390C586A237}"/>
              </a:ext>
            </a:extLst>
          </p:cNvPr>
          <p:cNvSpPr/>
          <p:nvPr/>
        </p:nvSpPr>
        <p:spPr>
          <a:xfrm>
            <a:off x="6223000" y="2286000"/>
            <a:ext cx="50800" cy="1651000"/>
          </a:xfrm>
          <a:prstGeom prst="rect">
            <a:avLst/>
          </a:prstGeom>
          <a:solidFill>
            <a:srgbClr val="D491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4B204-78F3-FA8F-CA7F-AF91679A627D}"/>
              </a:ext>
            </a:extLst>
          </p:cNvPr>
          <p:cNvSpPr txBox="1"/>
          <p:nvPr/>
        </p:nvSpPr>
        <p:spPr>
          <a:xfrm>
            <a:off x="6400800" y="2438400"/>
            <a:ext cx="4851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D4915C"/>
                </a:solidFill>
                <a:latin typeface="Consolas" panose="020B0609020204030204" pitchFamily="49" charset="0"/>
              </a:rPr>
              <a:t>0.6 - 0.8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402B10-7B5D-62EC-A484-CC377431A2A3}"/>
              </a:ext>
            </a:extLst>
          </p:cNvPr>
          <p:cNvSpPr txBox="1"/>
          <p:nvPr/>
        </p:nvSpPr>
        <p:spPr>
          <a:xfrm>
            <a:off x="6400800" y="2667000"/>
            <a:ext cx="4851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Developing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7232F7-9705-FA3D-F217-B886B2D435F8}"/>
              </a:ext>
            </a:extLst>
          </p:cNvPr>
          <p:cNvSpPr txBox="1"/>
          <p:nvPr/>
        </p:nvSpPr>
        <p:spPr>
          <a:xfrm>
            <a:off x="6400800" y="2971800"/>
            <a:ext cx="4851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Partial regulation with some gaps. Key areas defined, but inconsistencies remain.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12F3AC-DF78-2656-07EB-FE805C955B80}"/>
              </a:ext>
            </a:extLst>
          </p:cNvPr>
          <p:cNvSpPr/>
          <p:nvPr/>
        </p:nvSpPr>
        <p:spPr>
          <a:xfrm>
            <a:off x="762000" y="4191000"/>
            <a:ext cx="5207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9D4E53-6037-7C74-4963-17DBD3864174}"/>
              </a:ext>
            </a:extLst>
          </p:cNvPr>
          <p:cNvSpPr/>
          <p:nvPr/>
        </p:nvSpPr>
        <p:spPr>
          <a:xfrm>
            <a:off x="762000" y="4191000"/>
            <a:ext cx="50800" cy="1651000"/>
          </a:xfrm>
          <a:prstGeom prst="rect">
            <a:avLst/>
          </a:prstGeom>
          <a:solidFill>
            <a:srgbClr val="C06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BEA586-BED3-C855-B8AD-EB9A2533C4D2}"/>
              </a:ext>
            </a:extLst>
          </p:cNvPr>
          <p:cNvSpPr txBox="1"/>
          <p:nvPr/>
        </p:nvSpPr>
        <p:spPr>
          <a:xfrm>
            <a:off x="939800" y="4343400"/>
            <a:ext cx="4851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C06030"/>
                </a:solidFill>
                <a:latin typeface="Consolas" panose="020B0609020204030204" pitchFamily="49" charset="0"/>
              </a:rPr>
              <a:t>0.4 - 0.6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3AFDE9-AF53-AA01-4D6E-01BAA4ABC861}"/>
              </a:ext>
            </a:extLst>
          </p:cNvPr>
          <p:cNvSpPr txBox="1"/>
          <p:nvPr/>
        </p:nvSpPr>
        <p:spPr>
          <a:xfrm>
            <a:off x="939800" y="4572000"/>
            <a:ext cx="4851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Ambiguous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C6E8C6-9805-06E9-78FB-D9528B419CFF}"/>
              </a:ext>
            </a:extLst>
          </p:cNvPr>
          <p:cNvSpPr txBox="1"/>
          <p:nvPr/>
        </p:nvSpPr>
        <p:spPr>
          <a:xfrm>
            <a:off x="939800" y="4876800"/>
            <a:ext cx="4851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Unclear or fragmented rules. High uncertainty for users and companies.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995367E-1379-E107-9144-EB2B53117729}"/>
              </a:ext>
            </a:extLst>
          </p:cNvPr>
          <p:cNvSpPr/>
          <p:nvPr/>
        </p:nvSpPr>
        <p:spPr>
          <a:xfrm>
            <a:off x="6223000" y="4191000"/>
            <a:ext cx="5207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86E1B7-C703-3D76-77FD-BF0A41574634}"/>
              </a:ext>
            </a:extLst>
          </p:cNvPr>
          <p:cNvSpPr/>
          <p:nvPr/>
        </p:nvSpPr>
        <p:spPr>
          <a:xfrm>
            <a:off x="6223000" y="4191000"/>
            <a:ext cx="50800" cy="1651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54C0F1-F1C2-57E8-DA77-C5CDC1E6B4F2}"/>
              </a:ext>
            </a:extLst>
          </p:cNvPr>
          <p:cNvSpPr txBox="1"/>
          <p:nvPr/>
        </p:nvSpPr>
        <p:spPr>
          <a:xfrm>
            <a:off x="6400800" y="4343400"/>
            <a:ext cx="4851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8B1A1A"/>
                </a:solidFill>
                <a:latin typeface="Consolas" panose="020B0609020204030204" pitchFamily="49" charset="0"/>
              </a:rPr>
              <a:t>0.2 - 0.4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52E750-58AC-173E-0C0C-B9FB897FE323}"/>
              </a:ext>
            </a:extLst>
          </p:cNvPr>
          <p:cNvSpPr txBox="1"/>
          <p:nvPr/>
        </p:nvSpPr>
        <p:spPr>
          <a:xfrm>
            <a:off x="6400800" y="4572000"/>
            <a:ext cx="4851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Hostile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39B6DC-587E-7BCF-3DE7-7523D9335DE4}"/>
              </a:ext>
            </a:extLst>
          </p:cNvPr>
          <p:cNvSpPr txBox="1"/>
          <p:nvPr/>
        </p:nvSpPr>
        <p:spPr>
          <a:xfrm>
            <a:off x="6400800" y="4876800"/>
            <a:ext cx="4851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Restrictive or prohibitive policies. Limited or no legal pathway for participation.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B98999-1407-3510-F984-D510F1907CEB}"/>
              </a:ext>
            </a:extLst>
          </p:cNvPr>
          <p:cNvSpPr txBox="1"/>
          <p:nvPr/>
        </p:nvSpPr>
        <p:spPr>
          <a:xfrm>
            <a:off x="762000" y="60706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i="1">
                <a:solidFill>
                  <a:srgbClr val="5A6B7C"/>
                </a:solidFill>
                <a:latin typeface="Calibri" panose="020F0502020204030204" pitchFamily="34" charset="0"/>
              </a:rPr>
              <a:t>Five of 20 reach Comprehensive: Japan (0.944), Ukraine (0.889), Brazil (0.889), Thailand (0.833), United Kingdom (0.833).</a:t>
            </a:r>
          </a:p>
        </p:txBody>
      </p:sp>
    </p:spTree>
    <p:extLst>
      <p:ext uri="{BB962C8B-B14F-4D97-AF65-F5344CB8AC3E}">
        <p14:creationId xmlns:p14="http://schemas.microsoft.com/office/powerpoint/2010/main" val="3097081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ECD256-4A8E-F74B-C7D4-3E41C49DC372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9BDCE8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5BA8B5"/>
                </a:solidFill>
                <a:latin typeface="Consolas" panose="020B0609020204030204" pitchFamily="49" charset="0"/>
              </a:rPr>
              <a:t>JADEN CHOI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9FF9BC-D257-55CF-F4B9-E5CF287C4A58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5BA8B5"/>
                </a:solidFill>
                <a:latin typeface="Consolas" panose="020B0609020204030204" pitchFamily="49" charset="0"/>
              </a:rPr>
              <a:t>10  -  LIVE 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AF9A34-6D6A-3DD5-153B-437CC59427E6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F0F4F8"/>
                </a:solidFill>
                <a:latin typeface="Cambria" panose="02040503050406030204" pitchFamily="18" charset="0"/>
              </a:rPr>
              <a:t>The deliverable is an interactive web atlas.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02B1B-9C3B-43A7-6284-614104AAA094}"/>
              </a:ext>
            </a:extLst>
          </p:cNvPr>
          <p:cNvSpPr txBox="1"/>
          <p:nvPr/>
        </p:nvSpPr>
        <p:spPr>
          <a:xfrm>
            <a:off x="762000" y="20066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D0DAE3"/>
                </a:solidFill>
                <a:latin typeface="Calibri" panose="020F0502020204030204" pitchFamily="34" charset="0"/>
              </a:rPr>
              <a:t>Five linked surfaces: home, map, country profiles, findings, and three methodology pages.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EA7BFC-189C-F348-10E8-4F11B3570FE7}"/>
              </a:ext>
            </a:extLst>
          </p:cNvPr>
          <p:cNvSpPr/>
          <p:nvPr/>
        </p:nvSpPr>
        <p:spPr>
          <a:xfrm>
            <a:off x="762000" y="2794000"/>
            <a:ext cx="10668000" cy="3556000"/>
          </a:xfrm>
          <a:prstGeom prst="roundRect">
            <a:avLst>
              <a:gd name="adj" fmla="val 4000"/>
            </a:avLst>
          </a:prstGeom>
          <a:solidFill>
            <a:srgbClr val="122433"/>
          </a:solidFill>
          <a:ln w="6350">
            <a:solidFill>
              <a:srgbClr val="1F3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6B083-2E91-C2FB-515E-57D925E8FE9B}"/>
              </a:ext>
            </a:extLst>
          </p:cNvPr>
          <p:cNvSpPr txBox="1"/>
          <p:nvPr/>
        </p:nvSpPr>
        <p:spPr>
          <a:xfrm>
            <a:off x="990600" y="3048000"/>
            <a:ext cx="1016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F0F4F8"/>
                </a:solidFill>
                <a:latin typeface="Cambria" panose="02040503050406030204" pitchFamily="18" charset="0"/>
              </a:rPr>
              <a:t>Demo walkthrough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558454-6476-811A-6063-15852295EB4F}"/>
              </a:ext>
            </a:extLst>
          </p:cNvPr>
          <p:cNvSpPr/>
          <p:nvPr/>
        </p:nvSpPr>
        <p:spPr>
          <a:xfrm>
            <a:off x="990600" y="3530600"/>
            <a:ext cx="482600" cy="304800"/>
          </a:xfrm>
          <a:prstGeom prst="roundRect">
            <a:avLst>
              <a:gd name="adj" fmla="val 18000"/>
            </a:avLst>
          </a:prstGeom>
          <a:solidFill>
            <a:srgbClr val="1F3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2C72C-5A9B-DF9A-F1B1-3FC3CA19A4F4}"/>
              </a:ext>
            </a:extLst>
          </p:cNvPr>
          <p:cNvSpPr txBox="1"/>
          <p:nvPr/>
        </p:nvSpPr>
        <p:spPr>
          <a:xfrm>
            <a:off x="990600" y="3581400"/>
            <a:ext cx="482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5BA8B5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BB964E-B07F-3BB1-22EA-9449DFEF8AE1}"/>
              </a:ext>
            </a:extLst>
          </p:cNvPr>
          <p:cNvSpPr txBox="1"/>
          <p:nvPr/>
        </p:nvSpPr>
        <p:spPr>
          <a:xfrm>
            <a:off x="1651000" y="3581400"/>
            <a:ext cx="254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5BA8B5"/>
                </a:solidFill>
                <a:latin typeface="Calibri" panose="020F0502020204030204" pitchFamily="34" charset="0"/>
              </a:rPr>
              <a:t>Map view.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25ABD5-8B1B-9303-0146-144002F5DB76}"/>
              </a:ext>
            </a:extLst>
          </p:cNvPr>
          <p:cNvSpPr txBox="1"/>
          <p:nvPr/>
        </p:nvSpPr>
        <p:spPr>
          <a:xfrm>
            <a:off x="4191000" y="3581400"/>
            <a:ext cx="6985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D0DAE3"/>
                </a:solidFill>
                <a:latin typeface="Calibri" panose="020F0502020204030204" pitchFamily="34" charset="0"/>
              </a:rPr>
              <a:t>Show the geographic heat map. Switch dimension tabs (Overall / Economic / Regulatory / Technical) to show how the same country shifts color across pillars. Hover for tier labels.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B8A3DA6-6D1F-2289-C4E5-EC20DEFDCFD0}"/>
              </a:ext>
            </a:extLst>
          </p:cNvPr>
          <p:cNvSpPr/>
          <p:nvPr/>
        </p:nvSpPr>
        <p:spPr>
          <a:xfrm>
            <a:off x="990600" y="4165600"/>
            <a:ext cx="482600" cy="304800"/>
          </a:xfrm>
          <a:prstGeom prst="roundRect">
            <a:avLst>
              <a:gd name="adj" fmla="val 18000"/>
            </a:avLst>
          </a:prstGeom>
          <a:solidFill>
            <a:srgbClr val="1F3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D9822E-96AE-5754-C39A-8931B9F49722}"/>
              </a:ext>
            </a:extLst>
          </p:cNvPr>
          <p:cNvSpPr txBox="1"/>
          <p:nvPr/>
        </p:nvSpPr>
        <p:spPr>
          <a:xfrm>
            <a:off x="990600" y="4216400"/>
            <a:ext cx="482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5BA8B5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5906D-26F9-FE8F-62DB-C22870A42CF2}"/>
              </a:ext>
            </a:extLst>
          </p:cNvPr>
          <p:cNvSpPr txBox="1"/>
          <p:nvPr/>
        </p:nvSpPr>
        <p:spPr>
          <a:xfrm>
            <a:off x="1651000" y="4216400"/>
            <a:ext cx="254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5BA8B5"/>
                </a:solidFill>
                <a:latin typeface="Calibri" panose="020F0502020204030204" pitchFamily="34" charset="0"/>
              </a:rPr>
              <a:t>Map features.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C230CB-CD40-7120-D68A-B6F295869DE9}"/>
              </a:ext>
            </a:extLst>
          </p:cNvPr>
          <p:cNvSpPr txBox="1"/>
          <p:nvPr/>
        </p:nvSpPr>
        <p:spPr>
          <a:xfrm>
            <a:off x="4191000" y="4216400"/>
            <a:ext cx="6985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D0DAE3"/>
                </a:solidFill>
                <a:latin typeface="Calibri" panose="020F0502020204030204" pitchFamily="34" charset="0"/>
              </a:rPr>
              <a:t>Search countries from the rankings table; compare ranks across the three dimensions; click into any country.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C4262F-6924-B399-C46E-5B661A4C6291}"/>
              </a:ext>
            </a:extLst>
          </p:cNvPr>
          <p:cNvSpPr/>
          <p:nvPr/>
        </p:nvSpPr>
        <p:spPr>
          <a:xfrm>
            <a:off x="990600" y="4800600"/>
            <a:ext cx="482600" cy="304800"/>
          </a:xfrm>
          <a:prstGeom prst="roundRect">
            <a:avLst>
              <a:gd name="adj" fmla="val 18000"/>
            </a:avLst>
          </a:prstGeom>
          <a:solidFill>
            <a:srgbClr val="1F3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1840CB-F9DA-0511-6560-1D6D62E14297}"/>
              </a:ext>
            </a:extLst>
          </p:cNvPr>
          <p:cNvSpPr txBox="1"/>
          <p:nvPr/>
        </p:nvSpPr>
        <p:spPr>
          <a:xfrm>
            <a:off x="990600" y="4851400"/>
            <a:ext cx="482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5BA8B5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5A069F-D53D-EE87-754D-C352070530A5}"/>
              </a:ext>
            </a:extLst>
          </p:cNvPr>
          <p:cNvSpPr txBox="1"/>
          <p:nvPr/>
        </p:nvSpPr>
        <p:spPr>
          <a:xfrm>
            <a:off x="1651000" y="4851400"/>
            <a:ext cx="254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5BA8B5"/>
                </a:solidFill>
                <a:latin typeface="Calibri" panose="020F0502020204030204" pitchFamily="34" charset="0"/>
              </a:rPr>
              <a:t>Country profile.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FB3704-052A-9E6B-7331-C48399F9DC0B}"/>
              </a:ext>
            </a:extLst>
          </p:cNvPr>
          <p:cNvSpPr txBox="1"/>
          <p:nvPr/>
        </p:nvSpPr>
        <p:spPr>
          <a:xfrm>
            <a:off x="4191000" y="4851400"/>
            <a:ext cx="6985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D0DAE3"/>
                </a:solidFill>
                <a:latin typeface="Calibri" panose="020F0502020204030204" pitchFamily="34" charset="0"/>
              </a:rPr>
              <a:t>Open Vietnam (#1 economic) and Japan (#1 regulatory) to compare radar shapes and the 'What this score means' section.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05EF27C-3384-49EB-FDBE-2D8AC847A0A5}"/>
              </a:ext>
            </a:extLst>
          </p:cNvPr>
          <p:cNvSpPr/>
          <p:nvPr/>
        </p:nvSpPr>
        <p:spPr>
          <a:xfrm>
            <a:off x="990600" y="5435600"/>
            <a:ext cx="482600" cy="304800"/>
          </a:xfrm>
          <a:prstGeom prst="roundRect">
            <a:avLst>
              <a:gd name="adj" fmla="val 18000"/>
            </a:avLst>
          </a:prstGeom>
          <a:solidFill>
            <a:srgbClr val="1F3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0A9D0-81D1-BC50-7A93-4EAF302427DF}"/>
              </a:ext>
            </a:extLst>
          </p:cNvPr>
          <p:cNvSpPr txBox="1"/>
          <p:nvPr/>
        </p:nvSpPr>
        <p:spPr>
          <a:xfrm>
            <a:off x="990600" y="5486400"/>
            <a:ext cx="482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5BA8B5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8ACB05-CBDB-3529-3C16-A620F8B2174B}"/>
              </a:ext>
            </a:extLst>
          </p:cNvPr>
          <p:cNvSpPr txBox="1"/>
          <p:nvPr/>
        </p:nvSpPr>
        <p:spPr>
          <a:xfrm>
            <a:off x="1651000" y="5486400"/>
            <a:ext cx="254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5BA8B5"/>
                </a:solidFill>
                <a:latin typeface="Calibri" panose="020F0502020204030204" pitchFamily="34" charset="0"/>
              </a:rPr>
              <a:t>Findings page.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D4DEC6-6FD0-500C-C9B2-5B0DCD81DCC7}"/>
              </a:ext>
            </a:extLst>
          </p:cNvPr>
          <p:cNvSpPr txBox="1"/>
          <p:nvPr/>
        </p:nvSpPr>
        <p:spPr>
          <a:xfrm>
            <a:off x="4191000" y="5486400"/>
            <a:ext cx="6985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D0DAE3"/>
                </a:solidFill>
                <a:latin typeface="Calibri" panose="020F0502020204030204" pitchFamily="34" charset="0"/>
              </a:rPr>
              <a:t>Skim the six findings to set up the next slides.</a:t>
            </a:r>
          </a:p>
        </p:txBody>
      </p:sp>
    </p:spTree>
    <p:extLst>
      <p:ext uri="{BB962C8B-B14F-4D97-AF65-F5344CB8AC3E}">
        <p14:creationId xmlns:p14="http://schemas.microsoft.com/office/powerpoint/2010/main" val="802323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A3996A-F3D7-1D65-55FE-2320DD5B0A16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0A4C6A"/>
                </a:solidFill>
                <a:latin typeface="Consolas" panose="020B0609020204030204" pitchFamily="49" charset="0"/>
              </a:rPr>
              <a:t>FEDERICO &amp; NICO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EBB4C-9898-2605-29A3-1F77C438AA24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A4C6A"/>
                </a:solidFill>
                <a:latin typeface="Consolas" panose="020B0609020204030204" pitchFamily="49" charset="0"/>
              </a:rPr>
              <a:t>11  -  DATA BREAKDOWNS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A3388-3327-541F-E6B2-03EFA72EF68D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1A2A3A"/>
                </a:solidFill>
                <a:latin typeface="Cambria" panose="02040503050406030204" pitchFamily="18" charset="0"/>
              </a:rPr>
              <a:t>Three full data pages, one per pillar.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0EBAE-37D8-12CC-C4D2-5047D1119454}"/>
              </a:ext>
            </a:extLst>
          </p:cNvPr>
          <p:cNvSpPr txBox="1"/>
          <p:nvPr/>
        </p:nvSpPr>
        <p:spPr>
          <a:xfrm>
            <a:off x="762000" y="20574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C3E50"/>
                </a:solidFill>
                <a:latin typeface="Calibri" panose="020F0502020204030204" pitchFamily="34" charset="0"/>
              </a:rPr>
              <a:t>Every claim on the site is auditable. The methodology pages expose the raw indicators, normalization, and source citations behind each score.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A5C7D0-D156-FD39-4415-5A0755C587ED}"/>
              </a:ext>
            </a:extLst>
          </p:cNvPr>
          <p:cNvSpPr/>
          <p:nvPr/>
        </p:nvSpPr>
        <p:spPr>
          <a:xfrm>
            <a:off x="762000" y="3111500"/>
            <a:ext cx="3429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95B386-8A5F-90F9-BDF0-180AADE732CD}"/>
              </a:ext>
            </a:extLst>
          </p:cNvPr>
          <p:cNvSpPr/>
          <p:nvPr/>
        </p:nvSpPr>
        <p:spPr>
          <a:xfrm>
            <a:off x="762000" y="3111500"/>
            <a:ext cx="3429000" cy="50800"/>
          </a:xfrm>
          <a:prstGeom prst="rect">
            <a:avLst/>
          </a:prstGeom>
          <a:solidFill>
            <a:srgbClr val="1A7A4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42112-DEF2-5027-59F7-8FAC4D989D76}"/>
              </a:ext>
            </a:extLst>
          </p:cNvPr>
          <p:cNvSpPr txBox="1"/>
          <p:nvPr/>
        </p:nvSpPr>
        <p:spPr>
          <a:xfrm>
            <a:off x="939800" y="32893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econ-methodology.html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A742C-37E4-7C14-BEA0-477A547810BF}"/>
              </a:ext>
            </a:extLst>
          </p:cNvPr>
          <p:cNvSpPr txBox="1"/>
          <p:nvPr/>
        </p:nvSpPr>
        <p:spPr>
          <a:xfrm>
            <a:off x="939800" y="35687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PILLAR I  -  ECONOMIC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A5984-EE47-75E6-D2DD-3B44B92AA5CD}"/>
              </a:ext>
            </a:extLst>
          </p:cNvPr>
          <p:cNvSpPr txBox="1"/>
          <p:nvPr/>
        </p:nvSpPr>
        <p:spPr>
          <a:xfrm>
            <a:off x="939800" y="37973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2C3E50"/>
                </a:solidFill>
                <a:latin typeface="Calibri" panose="020F0502020204030204" pitchFamily="34" charset="0"/>
              </a:rPr>
              <a:t>Raw ownership, volume, remittance, and Chainalysis sub-rank tables for all 20 countries. Three views: scored, raw, and normalized.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196CA6-B8E9-8EE3-56EA-A62B33D2DEC2}"/>
              </a:ext>
            </a:extLst>
          </p:cNvPr>
          <p:cNvSpPr/>
          <p:nvPr/>
        </p:nvSpPr>
        <p:spPr>
          <a:xfrm>
            <a:off x="4381500" y="3111500"/>
            <a:ext cx="3429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8A6772-83B9-A956-C395-CEC12FD0C3FB}"/>
              </a:ext>
            </a:extLst>
          </p:cNvPr>
          <p:cNvSpPr/>
          <p:nvPr/>
        </p:nvSpPr>
        <p:spPr>
          <a:xfrm>
            <a:off x="4381500" y="3111500"/>
            <a:ext cx="3429000" cy="50800"/>
          </a:xfrm>
          <a:prstGeom prst="rect">
            <a:avLst/>
          </a:prstGeom>
          <a:solidFill>
            <a:srgbClr val="9B5A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9BA80-22AA-C573-6C4D-577684AE934F}"/>
              </a:ext>
            </a:extLst>
          </p:cNvPr>
          <p:cNvSpPr txBox="1"/>
          <p:nvPr/>
        </p:nvSpPr>
        <p:spPr>
          <a:xfrm>
            <a:off x="4559300" y="32893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regulatory-methodology.html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F132F4-6598-98B7-05A1-81FB33479376}"/>
              </a:ext>
            </a:extLst>
          </p:cNvPr>
          <p:cNvSpPr txBox="1"/>
          <p:nvPr/>
        </p:nvSpPr>
        <p:spPr>
          <a:xfrm>
            <a:off x="4559300" y="35687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PILLAR III  -  REGULATORY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8E5F88-ABEC-6A22-77A6-B4C6949B7E17}"/>
              </a:ext>
            </a:extLst>
          </p:cNvPr>
          <p:cNvSpPr txBox="1"/>
          <p:nvPr/>
        </p:nvSpPr>
        <p:spPr>
          <a:xfrm>
            <a:off x="4559300" y="37973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2C3E50"/>
                </a:solidFill>
                <a:latin typeface="Calibri" panose="020F0502020204030204" pitchFamily="34" charset="0"/>
              </a:rPr>
              <a:t>Per-country 1 to 3 ratings on each of the six sub-dimensions, with source citations from Library of Congress and PwC.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DABF267-B316-4F26-42E3-8AA6ED386D73}"/>
              </a:ext>
            </a:extLst>
          </p:cNvPr>
          <p:cNvSpPr/>
          <p:nvPr/>
        </p:nvSpPr>
        <p:spPr>
          <a:xfrm>
            <a:off x="8001000" y="3111500"/>
            <a:ext cx="3429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AF8D5B-7D19-1D36-5525-00D45CE2D26B}"/>
              </a:ext>
            </a:extLst>
          </p:cNvPr>
          <p:cNvSpPr/>
          <p:nvPr/>
        </p:nvSpPr>
        <p:spPr>
          <a:xfrm>
            <a:off x="8001000" y="3111500"/>
            <a:ext cx="3429000" cy="50800"/>
          </a:xfrm>
          <a:prstGeom prst="rect">
            <a:avLst/>
          </a:prstGeom>
          <a:solidFill>
            <a:srgbClr val="2E5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56D40F-1351-C5C8-1E98-F580773F1D7C}"/>
              </a:ext>
            </a:extLst>
          </p:cNvPr>
          <p:cNvSpPr txBox="1"/>
          <p:nvPr/>
        </p:nvSpPr>
        <p:spPr>
          <a:xfrm>
            <a:off x="8178800" y="32893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tech-methodology.html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397D1E-8D15-C492-7B29-8E4736A9D7DA}"/>
              </a:ext>
            </a:extLst>
          </p:cNvPr>
          <p:cNvSpPr txBox="1"/>
          <p:nvPr/>
        </p:nvSpPr>
        <p:spPr>
          <a:xfrm>
            <a:off x="8178800" y="35687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PILLAR II  -  TECHNICAL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97A591-183B-1979-40C3-056E96065F29}"/>
              </a:ext>
            </a:extLst>
          </p:cNvPr>
          <p:cNvSpPr txBox="1"/>
          <p:nvPr/>
        </p:nvSpPr>
        <p:spPr>
          <a:xfrm>
            <a:off x="8178800" y="3797300"/>
            <a:ext cx="307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2C3E50"/>
                </a:solidFill>
                <a:latin typeface="Calibri" panose="020F0502020204030204" pitchFamily="34" charset="0"/>
              </a:rPr>
              <a:t>Node counts, hashrate share, Lightning density, and the enabling-environment composite. All values per 100k internet users where applicable.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E2DE72-9B8C-8C4D-B8C7-146513F8B51C}"/>
              </a:ext>
            </a:extLst>
          </p:cNvPr>
          <p:cNvSpPr txBox="1"/>
          <p:nvPr/>
        </p:nvSpPr>
        <p:spPr>
          <a:xfrm>
            <a:off x="762000" y="54864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5A6B7C"/>
                </a:solidFill>
                <a:latin typeface="Calibri" panose="020F0502020204030204" pitchFamily="34" charset="0"/>
              </a:rPr>
              <a:t>The full data is also accessible via the country profile pages, which surface a per-country rollup with links to the underlying methodology.</a:t>
            </a:r>
          </a:p>
        </p:txBody>
      </p:sp>
    </p:spTree>
    <p:extLst>
      <p:ext uri="{BB962C8B-B14F-4D97-AF65-F5344CB8AC3E}">
        <p14:creationId xmlns:p14="http://schemas.microsoft.com/office/powerpoint/2010/main" val="508910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783A6B-EF64-46E6-C7A9-9523DDBD8C7F}"/>
              </a:ext>
            </a:extLst>
          </p:cNvPr>
          <p:cNvSpPr txBox="1"/>
          <p:nvPr/>
        </p:nvSpPr>
        <p:spPr>
          <a:xfrm>
            <a:off x="762000" y="1651000"/>
            <a:ext cx="381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5BA8B5"/>
                </a:solidFill>
                <a:latin typeface="Consolas" panose="020B0609020204030204" pitchFamily="49" charset="0"/>
              </a:rPr>
              <a:t>PART TWO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D919A-4EB0-F8BB-6191-BA0DEC48B61D}"/>
              </a:ext>
            </a:extLst>
          </p:cNvPr>
          <p:cNvSpPr txBox="1"/>
          <p:nvPr/>
        </p:nvSpPr>
        <p:spPr>
          <a:xfrm>
            <a:off x="762000" y="2286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0" b="1">
                <a:solidFill>
                  <a:srgbClr val="F0F4F8"/>
                </a:solidFill>
                <a:latin typeface="Cambria" panose="02040503050406030204" pitchFamily="18" charset="0"/>
              </a:rPr>
              <a:t>Key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45AE7-0681-2CA2-F06A-EE64186585B4}"/>
              </a:ext>
            </a:extLst>
          </p:cNvPr>
          <p:cNvSpPr txBox="1"/>
          <p:nvPr/>
        </p:nvSpPr>
        <p:spPr>
          <a:xfrm>
            <a:off x="762000" y="4064000"/>
            <a:ext cx="1016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i="1">
                <a:solidFill>
                  <a:srgbClr val="9BDCE8"/>
                </a:solidFill>
                <a:latin typeface="Calibri" panose="020F0502020204030204" pitchFamily="34" charset="0"/>
              </a:rPr>
              <a:t>Six insights from analyzing 20 countries across the three dimensions.</a:t>
            </a:r>
          </a:p>
        </p:txBody>
      </p:sp>
    </p:spTree>
    <p:extLst>
      <p:ext uri="{BB962C8B-B14F-4D97-AF65-F5344CB8AC3E}">
        <p14:creationId xmlns:p14="http://schemas.microsoft.com/office/powerpoint/2010/main" val="3865451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8C37EA-BAD7-FDBF-FA3F-12805E017455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0A4C6A"/>
                </a:solidFill>
                <a:latin typeface="Consolas" panose="020B0609020204030204" pitchFamily="49" charset="0"/>
              </a:rPr>
              <a:t>ALON MUTTER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C27C2-346A-9A85-FF55-41ABB122A30B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A4C6A"/>
                </a:solidFill>
                <a:latin typeface="Consolas" panose="020B0609020204030204" pitchFamily="49" charset="0"/>
              </a:rPr>
              <a:t>12  -  FINDING I  -  ADOPTION VS. REGULATION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57C1E6-6483-F711-55BE-36992976C98D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1A2A3A"/>
                </a:solidFill>
                <a:latin typeface="Cambria" panose="02040503050406030204" pitchFamily="18" charset="0"/>
              </a:rPr>
              <a:t>An inverse relationship, with two notable exceptions.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E13F2-B7B4-6BE6-DE37-B189CF465AA2}"/>
              </a:ext>
            </a:extLst>
          </p:cNvPr>
          <p:cNvSpPr txBox="1"/>
          <p:nvPr/>
        </p:nvSpPr>
        <p:spPr>
          <a:xfrm>
            <a:off x="762000" y="20066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C3E50"/>
                </a:solidFill>
                <a:latin typeface="Calibri" panose="020F0502020204030204" pitchFamily="34" charset="0"/>
              </a:rPr>
              <a:t>Heavy regulation slows consumer-led adoption. Light regulation enables rapid but potentially risky growth.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B47560-FFD6-248C-82D1-920C46DCE27D}"/>
              </a:ext>
            </a:extLst>
          </p:cNvPr>
          <p:cNvSpPr/>
          <p:nvPr/>
        </p:nvSpPr>
        <p:spPr>
          <a:xfrm>
            <a:off x="762000" y="2794000"/>
            <a:ext cx="5207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6D17B-FC96-3278-DE86-E314566ABB38}"/>
              </a:ext>
            </a:extLst>
          </p:cNvPr>
          <p:cNvSpPr/>
          <p:nvPr/>
        </p:nvSpPr>
        <p:spPr>
          <a:xfrm>
            <a:off x="762000" y="2794000"/>
            <a:ext cx="5207000" cy="50800"/>
          </a:xfrm>
          <a:prstGeom prst="rect">
            <a:avLst/>
          </a:prstGeom>
          <a:solidFill>
            <a:srgbClr val="1A6B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D5A9B-5C91-1950-6683-FEC1D190512D}"/>
              </a:ext>
            </a:extLst>
          </p:cNvPr>
          <p:cNvSpPr txBox="1"/>
          <p:nvPr/>
        </p:nvSpPr>
        <p:spPr>
          <a:xfrm>
            <a:off x="965200" y="29718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THE EXCEPTIONS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DE53C5-6571-682B-69CF-75A1BCD87D77}"/>
              </a:ext>
            </a:extLst>
          </p:cNvPr>
          <p:cNvSpPr txBox="1"/>
          <p:nvPr/>
        </p:nvSpPr>
        <p:spPr>
          <a:xfrm>
            <a:off x="965200" y="31750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Ukraine &amp; Brazil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FF5CE6-3856-855D-9F84-AD68A46E06BB}"/>
              </a:ext>
            </a:extLst>
          </p:cNvPr>
          <p:cNvSpPr txBox="1"/>
          <p:nvPr/>
        </p:nvSpPr>
        <p:spPr>
          <a:xfrm>
            <a:off x="965200" y="37084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The only countries achieving both high adoption (#2 and #11 economic) and Comprehensive regulation (0.889 each). Both reached this through proactive frameworks responding to existing demand.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0DE177-411B-89E8-8DC8-AF5638918F2C}"/>
              </a:ext>
            </a:extLst>
          </p:cNvPr>
          <p:cNvSpPr/>
          <p:nvPr/>
        </p:nvSpPr>
        <p:spPr>
          <a:xfrm>
            <a:off x="6223000" y="2794000"/>
            <a:ext cx="5207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B168BF-EE4A-66F1-4D3F-403E798E9D19}"/>
              </a:ext>
            </a:extLst>
          </p:cNvPr>
          <p:cNvSpPr/>
          <p:nvPr/>
        </p:nvSpPr>
        <p:spPr>
          <a:xfrm>
            <a:off x="6223000" y="2794000"/>
            <a:ext cx="5207000" cy="50800"/>
          </a:xfrm>
          <a:prstGeom prst="rect">
            <a:avLst/>
          </a:prstGeom>
          <a:solidFill>
            <a:srgbClr val="C06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43891C-E1FF-A096-F7F2-09EC992FC2B3}"/>
              </a:ext>
            </a:extLst>
          </p:cNvPr>
          <p:cNvSpPr txBox="1"/>
          <p:nvPr/>
        </p:nvSpPr>
        <p:spPr>
          <a:xfrm>
            <a:off x="6426200" y="29718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THE PATTERN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2B3E0-B4D3-FC7F-36F5-ADB7A723698F}"/>
              </a:ext>
            </a:extLst>
          </p:cNvPr>
          <p:cNvSpPr txBox="1"/>
          <p:nvPr/>
        </p:nvSpPr>
        <p:spPr>
          <a:xfrm>
            <a:off x="6426200" y="31750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High adoption, low clarity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D8F59-5826-E179-8E98-CE3DC7FF0451}"/>
              </a:ext>
            </a:extLst>
          </p:cNvPr>
          <p:cNvSpPr txBox="1"/>
          <p:nvPr/>
        </p:nvSpPr>
        <p:spPr>
          <a:xfrm>
            <a:off x="6426200" y="37084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Vietnam (0.761 econ / 0.556 reg), Pakistan (0.494 / 0.556), Argentina (0.262 / 0.611). Activity outruns rules wherever economic necessity is the driver.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70EAF5-C2AC-0E7F-3D64-2357286237E6}"/>
              </a:ext>
            </a:extLst>
          </p:cNvPr>
          <p:cNvSpPr txBox="1"/>
          <p:nvPr/>
        </p:nvSpPr>
        <p:spPr>
          <a:xfrm>
            <a:off x="762000" y="5588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2C3E50"/>
                </a:solidFill>
                <a:latin typeface="Calibri" panose="020F0502020204030204" pitchFamily="34" charset="0"/>
              </a:rPr>
              <a:t>The takeaway. The ideal balance, high adoption with clear rules, remains rare globally. Most countries pick one or the other.</a:t>
            </a:r>
          </a:p>
        </p:txBody>
      </p:sp>
    </p:spTree>
    <p:extLst>
      <p:ext uri="{BB962C8B-B14F-4D97-AF65-F5344CB8AC3E}">
        <p14:creationId xmlns:p14="http://schemas.microsoft.com/office/powerpoint/2010/main" val="3193995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26E0CC-C32E-0CF2-E7A9-CB7B4F99F920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9B5A30"/>
                </a:solidFill>
                <a:latin typeface="Consolas" panose="020B0609020204030204" pitchFamily="49" charset="0"/>
              </a:rPr>
              <a:t>ARI CHOE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5BC8D-6D87-0415-5E67-C28AEDB5553E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9B5A30"/>
                </a:solidFill>
                <a:latin typeface="Consolas" panose="020B0609020204030204" pitchFamily="49" charset="0"/>
              </a:rPr>
              <a:t>13  -  FINDING II  -  DEVELOPING NATIONS LEAD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9BDAE9-241F-155D-B156-04BB4E783589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>
                <a:solidFill>
                  <a:srgbClr val="1A2A3A"/>
                </a:solidFill>
                <a:latin typeface="Cambria" panose="02040503050406030204" pitchFamily="18" charset="0"/>
              </a:rPr>
              <a:t>Every top-five adopter has a distress driver.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70B46-E0D2-A337-9495-B06EF8362A45}"/>
              </a:ext>
            </a:extLst>
          </p:cNvPr>
          <p:cNvSpPr txBox="1"/>
          <p:nvPr/>
        </p:nvSpPr>
        <p:spPr>
          <a:xfrm>
            <a:off x="762000" y="20066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C3E50"/>
                </a:solidFill>
                <a:latin typeface="Calibri" panose="020F0502020204030204" pitchFamily="34" charset="0"/>
              </a:rPr>
              <a:t>The leaders look nothing like a list of 'most regulated' countries. The US is the only stable, developed economy in the top five.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A6F554-F195-8A20-D17B-BB783157AC21}"/>
              </a:ext>
            </a:extLst>
          </p:cNvPr>
          <p:cNvSpPr/>
          <p:nvPr/>
        </p:nvSpPr>
        <p:spPr>
          <a:xfrm>
            <a:off x="762000" y="2730500"/>
            <a:ext cx="10668000" cy="53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C88455-4EF3-17C8-F6EC-A6306C3DC7FF}"/>
              </a:ext>
            </a:extLst>
          </p:cNvPr>
          <p:cNvSpPr/>
          <p:nvPr/>
        </p:nvSpPr>
        <p:spPr>
          <a:xfrm>
            <a:off x="762000" y="2730500"/>
            <a:ext cx="50800" cy="533400"/>
          </a:xfrm>
          <a:prstGeom prst="rect">
            <a:avLst/>
          </a:prstGeom>
          <a:solidFill>
            <a:srgbClr val="1A6B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A3D41-3D9B-848E-0C55-0FD9430E244A}"/>
              </a:ext>
            </a:extLst>
          </p:cNvPr>
          <p:cNvSpPr txBox="1"/>
          <p:nvPr/>
        </p:nvSpPr>
        <p:spPr>
          <a:xfrm>
            <a:off x="965200" y="2882900"/>
            <a:ext cx="635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A4C6A"/>
                </a:solidFill>
                <a:latin typeface="Consolas" panose="020B0609020204030204" pitchFamily="49" charset="0"/>
              </a:rPr>
              <a:t>#1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5AC1D-2A16-EB3B-B832-C1C6709C2AF2}"/>
              </a:ext>
            </a:extLst>
          </p:cNvPr>
          <p:cNvSpPr txBox="1"/>
          <p:nvPr/>
        </p:nvSpPr>
        <p:spPr>
          <a:xfrm>
            <a:off x="1651000" y="2882900"/>
            <a:ext cx="228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Vietnam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10B96B-DB58-17DA-C13F-3BE0F0EDB9F0}"/>
              </a:ext>
            </a:extLst>
          </p:cNvPr>
          <p:cNvSpPr txBox="1"/>
          <p:nvPr/>
        </p:nvSpPr>
        <p:spPr>
          <a:xfrm>
            <a:off x="4064000" y="2908300"/>
            <a:ext cx="609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Highest crypto ownership in the world (21.2%) + remittance corridors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4FD2B-BD0F-B8F6-30B4-6552E76AD126}"/>
              </a:ext>
            </a:extLst>
          </p:cNvPr>
          <p:cNvSpPr txBox="1"/>
          <p:nvPr/>
        </p:nvSpPr>
        <p:spPr>
          <a:xfrm>
            <a:off x="10160000" y="28829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600" b="1">
                <a:solidFill>
                  <a:srgbClr val="0A4C6A"/>
                </a:solidFill>
                <a:latin typeface="Consolas" panose="020B0609020204030204" pitchFamily="49" charset="0"/>
              </a:rPr>
              <a:t>0.761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FAC0F2-2980-1EF2-6C31-7B655D3606CE}"/>
              </a:ext>
            </a:extLst>
          </p:cNvPr>
          <p:cNvSpPr/>
          <p:nvPr/>
        </p:nvSpPr>
        <p:spPr>
          <a:xfrm>
            <a:off x="762000" y="3340100"/>
            <a:ext cx="10668000" cy="53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707CC1-3774-D6C1-AB41-622B58918CE1}"/>
              </a:ext>
            </a:extLst>
          </p:cNvPr>
          <p:cNvSpPr/>
          <p:nvPr/>
        </p:nvSpPr>
        <p:spPr>
          <a:xfrm>
            <a:off x="762000" y="3340100"/>
            <a:ext cx="50800" cy="533400"/>
          </a:xfrm>
          <a:prstGeom prst="rect">
            <a:avLst/>
          </a:prstGeom>
          <a:solidFill>
            <a:srgbClr val="1A6B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4BB08B-B94D-2467-90CC-200AE161145B}"/>
              </a:ext>
            </a:extLst>
          </p:cNvPr>
          <p:cNvSpPr txBox="1"/>
          <p:nvPr/>
        </p:nvSpPr>
        <p:spPr>
          <a:xfrm>
            <a:off x="965200" y="3492500"/>
            <a:ext cx="635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A4C6A"/>
                </a:solidFill>
                <a:latin typeface="Consolas" panose="020B0609020204030204" pitchFamily="49" charset="0"/>
              </a:rPr>
              <a:t>#2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00394-1B0D-93D8-EA0B-C17F8987F95C}"/>
              </a:ext>
            </a:extLst>
          </p:cNvPr>
          <p:cNvSpPr txBox="1"/>
          <p:nvPr/>
        </p:nvSpPr>
        <p:spPr>
          <a:xfrm>
            <a:off x="1651000" y="3492500"/>
            <a:ext cx="228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Ukraine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B0FA15-E336-E5C6-CFFC-13707A5D82AC}"/>
              </a:ext>
            </a:extLst>
          </p:cNvPr>
          <p:cNvSpPr txBox="1"/>
          <p:nvPr/>
        </p:nvSpPr>
        <p:spPr>
          <a:xfrm>
            <a:off x="4064000" y="3517900"/>
            <a:ext cx="609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Active conflict, currency stress, \/capita remittances (highest in index)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54158C-F716-C039-61D9-89E2417E551D}"/>
              </a:ext>
            </a:extLst>
          </p:cNvPr>
          <p:cNvSpPr txBox="1"/>
          <p:nvPr/>
        </p:nvSpPr>
        <p:spPr>
          <a:xfrm>
            <a:off x="10160000" y="34925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600" b="1">
                <a:solidFill>
                  <a:srgbClr val="0A4C6A"/>
                </a:solidFill>
                <a:latin typeface="Consolas" panose="020B0609020204030204" pitchFamily="49" charset="0"/>
              </a:rPr>
              <a:t>0.733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262590C-3F0F-08AE-0AEC-4625AD1E161E}"/>
              </a:ext>
            </a:extLst>
          </p:cNvPr>
          <p:cNvSpPr/>
          <p:nvPr/>
        </p:nvSpPr>
        <p:spPr>
          <a:xfrm>
            <a:off x="762000" y="3949700"/>
            <a:ext cx="10668000" cy="53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A07DF8-6AAC-9015-1FFD-FE2A0A17F1D3}"/>
              </a:ext>
            </a:extLst>
          </p:cNvPr>
          <p:cNvSpPr/>
          <p:nvPr/>
        </p:nvSpPr>
        <p:spPr>
          <a:xfrm>
            <a:off x="762000" y="3949700"/>
            <a:ext cx="50800" cy="533400"/>
          </a:xfrm>
          <a:prstGeom prst="rect">
            <a:avLst/>
          </a:prstGeom>
          <a:solidFill>
            <a:srgbClr val="1A6B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7F1759-0E7C-930D-D98A-5D46E6B091FF}"/>
              </a:ext>
            </a:extLst>
          </p:cNvPr>
          <p:cNvSpPr txBox="1"/>
          <p:nvPr/>
        </p:nvSpPr>
        <p:spPr>
          <a:xfrm>
            <a:off x="965200" y="4102100"/>
            <a:ext cx="635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A4C6A"/>
                </a:solidFill>
                <a:latin typeface="Consolas" panose="020B0609020204030204" pitchFamily="49" charset="0"/>
              </a:rPr>
              <a:t>#3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05431C-6FCC-60EF-A531-CB900FEAF8F8}"/>
              </a:ext>
            </a:extLst>
          </p:cNvPr>
          <p:cNvSpPr txBox="1"/>
          <p:nvPr/>
        </p:nvSpPr>
        <p:spPr>
          <a:xfrm>
            <a:off x="1651000" y="4102100"/>
            <a:ext cx="228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Philippines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D5DADF-4826-5F22-1611-092AADCB08F6}"/>
              </a:ext>
            </a:extLst>
          </p:cNvPr>
          <p:cNvSpPr txBox="1"/>
          <p:nvPr/>
        </p:nvSpPr>
        <p:spPr>
          <a:xfrm>
            <a:off x="4064000" y="4127500"/>
            <a:ext cx="609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Major remittance corridor (\/capita), 13.4% ownership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EE59C1-640D-8FA0-433A-8F6704A97662}"/>
              </a:ext>
            </a:extLst>
          </p:cNvPr>
          <p:cNvSpPr txBox="1"/>
          <p:nvPr/>
        </p:nvSpPr>
        <p:spPr>
          <a:xfrm>
            <a:off x="10160000" y="41021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600" b="1">
                <a:solidFill>
                  <a:srgbClr val="0A4C6A"/>
                </a:solidFill>
                <a:latin typeface="Consolas" panose="020B0609020204030204" pitchFamily="49" charset="0"/>
              </a:rPr>
              <a:t>0.632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84EB65C-A5AE-6AEF-8FF3-C9320A377629}"/>
              </a:ext>
            </a:extLst>
          </p:cNvPr>
          <p:cNvSpPr/>
          <p:nvPr/>
        </p:nvSpPr>
        <p:spPr>
          <a:xfrm>
            <a:off x="762000" y="4559300"/>
            <a:ext cx="10668000" cy="53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E84D0C-0FFD-DE99-ABC5-A018BE82A436}"/>
              </a:ext>
            </a:extLst>
          </p:cNvPr>
          <p:cNvSpPr/>
          <p:nvPr/>
        </p:nvSpPr>
        <p:spPr>
          <a:xfrm>
            <a:off x="762000" y="4559300"/>
            <a:ext cx="50800" cy="533400"/>
          </a:xfrm>
          <a:prstGeom prst="rect">
            <a:avLst/>
          </a:prstGeom>
          <a:solidFill>
            <a:srgbClr val="1A6B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6E4161-CFD7-12AD-C76B-6F6806D7BEB6}"/>
              </a:ext>
            </a:extLst>
          </p:cNvPr>
          <p:cNvSpPr txBox="1"/>
          <p:nvPr/>
        </p:nvSpPr>
        <p:spPr>
          <a:xfrm>
            <a:off x="965200" y="4711700"/>
            <a:ext cx="635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A4C6A"/>
                </a:solidFill>
                <a:latin typeface="Consolas" panose="020B0609020204030204" pitchFamily="49" charset="0"/>
              </a:rPr>
              <a:t>#4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257F7-C82C-CEE0-975C-0EA700DAEA8E}"/>
              </a:ext>
            </a:extLst>
          </p:cNvPr>
          <p:cNvSpPr txBox="1"/>
          <p:nvPr/>
        </p:nvSpPr>
        <p:spPr>
          <a:xfrm>
            <a:off x="1651000" y="4711700"/>
            <a:ext cx="228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United States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D86E9A-7E92-0EE5-E4A9-6BA9177413A8}"/>
              </a:ext>
            </a:extLst>
          </p:cNvPr>
          <p:cNvSpPr txBox="1"/>
          <p:nvPr/>
        </p:nvSpPr>
        <p:spPr>
          <a:xfrm>
            <a:off x="4064000" y="4737100"/>
            <a:ext cx="609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Outlier: 15.6% ownership, \.6B daily CEX volume, deep institutional flows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4616EE-7B28-F79E-459A-3EFD6219CFD5}"/>
              </a:ext>
            </a:extLst>
          </p:cNvPr>
          <p:cNvSpPr txBox="1"/>
          <p:nvPr/>
        </p:nvSpPr>
        <p:spPr>
          <a:xfrm>
            <a:off x="10160000" y="47117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600" b="1">
                <a:solidFill>
                  <a:srgbClr val="0A4C6A"/>
                </a:solidFill>
                <a:latin typeface="Consolas" panose="020B0609020204030204" pitchFamily="49" charset="0"/>
              </a:rPr>
              <a:t>0.576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790ABD8-E1CF-1F84-DC7A-EF688F8FFC44}"/>
              </a:ext>
            </a:extLst>
          </p:cNvPr>
          <p:cNvSpPr/>
          <p:nvPr/>
        </p:nvSpPr>
        <p:spPr>
          <a:xfrm>
            <a:off x="762000" y="5168900"/>
            <a:ext cx="10668000" cy="53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4EF32D-27C1-72CF-D730-5B4AEDDCA6E7}"/>
              </a:ext>
            </a:extLst>
          </p:cNvPr>
          <p:cNvSpPr/>
          <p:nvPr/>
        </p:nvSpPr>
        <p:spPr>
          <a:xfrm>
            <a:off x="762000" y="5168900"/>
            <a:ext cx="50800" cy="533400"/>
          </a:xfrm>
          <a:prstGeom prst="rect">
            <a:avLst/>
          </a:prstGeom>
          <a:solidFill>
            <a:srgbClr val="1A6B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F98DFA-DAAE-5E30-61D8-C6A7AA2A8C8D}"/>
              </a:ext>
            </a:extLst>
          </p:cNvPr>
          <p:cNvSpPr txBox="1"/>
          <p:nvPr/>
        </p:nvSpPr>
        <p:spPr>
          <a:xfrm>
            <a:off x="965200" y="5321300"/>
            <a:ext cx="635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A4C6A"/>
                </a:solidFill>
                <a:latin typeface="Consolas" panose="020B0609020204030204" pitchFamily="49" charset="0"/>
              </a:rPr>
              <a:t>#5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93AEB1-5B1F-B074-59BC-881E021E410D}"/>
              </a:ext>
            </a:extLst>
          </p:cNvPr>
          <p:cNvSpPr txBox="1"/>
          <p:nvPr/>
        </p:nvSpPr>
        <p:spPr>
          <a:xfrm>
            <a:off x="1651000" y="5321300"/>
            <a:ext cx="228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A2A3A"/>
                </a:solidFill>
                <a:latin typeface="Cambria" panose="02040503050406030204" pitchFamily="18" charset="0"/>
              </a:rPr>
              <a:t>Pakistan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EA32CC-5044-85BB-76BB-14D0BBB50E56}"/>
              </a:ext>
            </a:extLst>
          </p:cNvPr>
          <p:cNvSpPr txBox="1"/>
          <p:nvPr/>
        </p:nvSpPr>
        <p:spPr>
          <a:xfrm>
            <a:off x="4064000" y="5346700"/>
            <a:ext cx="609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Currency volatility, financial exclusion, top-3 retail and institutional CEX ranks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6D7D00-F1CB-D572-B673-5F9D5944E915}"/>
              </a:ext>
            </a:extLst>
          </p:cNvPr>
          <p:cNvSpPr txBox="1"/>
          <p:nvPr/>
        </p:nvSpPr>
        <p:spPr>
          <a:xfrm>
            <a:off x="10160000" y="5321300"/>
            <a:ext cx="114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600" b="1">
                <a:solidFill>
                  <a:srgbClr val="0A4C6A"/>
                </a:solidFill>
                <a:latin typeface="Consolas" panose="020B0609020204030204" pitchFamily="49" charset="0"/>
              </a:rPr>
              <a:t>0.494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6A7C9F-B5E4-9431-0DB6-347D99B9D11B}"/>
              </a:ext>
            </a:extLst>
          </p:cNvPr>
          <p:cNvSpPr txBox="1"/>
          <p:nvPr/>
        </p:nvSpPr>
        <p:spPr>
          <a:xfrm>
            <a:off x="762000" y="5842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2C3E50"/>
                </a:solidFill>
                <a:latin typeface="Calibri" panose="020F0502020204030204" pitchFamily="34" charset="0"/>
              </a:rPr>
              <a:t>Three structural drivers recur: currency instability (Venezuela 10.3%, Argentina 9.7% ownership), remittance corridors, and financial exclusion -- all stronger predictors than favorable policy.</a:t>
            </a:r>
          </a:p>
        </p:txBody>
      </p:sp>
    </p:spTree>
    <p:extLst>
      <p:ext uri="{BB962C8B-B14F-4D97-AF65-F5344CB8AC3E}">
        <p14:creationId xmlns:p14="http://schemas.microsoft.com/office/powerpoint/2010/main" val="443005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B8534B-F51A-D06F-B522-83155AEA9344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0A4C6A"/>
                </a:solidFill>
                <a:latin typeface="Consolas" panose="020B0609020204030204" pitchFamily="49" charset="0"/>
              </a:rPr>
              <a:t>ALEXIS VO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4DEFE-3DA8-B7FC-8851-980E47770ACA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A4C6A"/>
                </a:solidFill>
                <a:latin typeface="Consolas" panose="020B0609020204030204" pitchFamily="49" charset="0"/>
              </a:rPr>
              <a:t>14  -  FINDING III  -  THE REGULATORY LANDSCAPE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B1B4D-9779-5940-EF62-ADD17152F9A5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1A2A3A"/>
                </a:solidFill>
                <a:latin typeface="Cambria" panose="02040503050406030204" pitchFamily="18" charset="0"/>
              </a:rPr>
              <a:t>Only 5 of 20 countries have comprehensive regulation.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936925-B79F-E5CA-FCDA-946E8EF8B1CD}"/>
              </a:ext>
            </a:extLst>
          </p:cNvPr>
          <p:cNvSpPr/>
          <p:nvPr/>
        </p:nvSpPr>
        <p:spPr>
          <a:xfrm>
            <a:off x="762000" y="2540000"/>
            <a:ext cx="3429000" cy="279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D4B9E8-F620-659E-473D-4C586F2C3C22}"/>
              </a:ext>
            </a:extLst>
          </p:cNvPr>
          <p:cNvSpPr/>
          <p:nvPr/>
        </p:nvSpPr>
        <p:spPr>
          <a:xfrm>
            <a:off x="762000" y="2540000"/>
            <a:ext cx="63500" cy="2794000"/>
          </a:xfrm>
          <a:prstGeom prst="rect">
            <a:avLst/>
          </a:prstGeom>
          <a:solidFill>
            <a:srgbClr val="0A4C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3B4C55-2670-DB21-16C1-50A7282425F7}"/>
              </a:ext>
            </a:extLst>
          </p:cNvPr>
          <p:cNvSpPr txBox="1"/>
          <p:nvPr/>
        </p:nvSpPr>
        <p:spPr>
          <a:xfrm>
            <a:off x="965200" y="2717800"/>
            <a:ext cx="3022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200" b="1">
                <a:solidFill>
                  <a:srgbClr val="0A4C6A"/>
                </a:solidFill>
                <a:latin typeface="Consolas" panose="020B0609020204030204" pitchFamily="49" charset="0"/>
              </a:rPr>
              <a:t>5/20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D82B32-A7ED-4C78-8540-516EE36B36FE}"/>
              </a:ext>
            </a:extLst>
          </p:cNvPr>
          <p:cNvSpPr txBox="1"/>
          <p:nvPr/>
        </p:nvSpPr>
        <p:spPr>
          <a:xfrm>
            <a:off x="965200" y="3454400"/>
            <a:ext cx="3022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2C3E50"/>
                </a:solidFill>
                <a:latin typeface="Calibri" panose="020F0502020204030204" pitchFamily="34" charset="0"/>
              </a:rPr>
              <a:t>Comprehensive only. Japan (0.944), Ukraine (0.889), Brazil (0.889), Thailand (0.833), UK (0.833). The remaining 15 are Developing, Ambiguous, or Hostile.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0C1F05-33A7-DD26-95CC-3D6A2368CABD}"/>
              </a:ext>
            </a:extLst>
          </p:cNvPr>
          <p:cNvSpPr/>
          <p:nvPr/>
        </p:nvSpPr>
        <p:spPr>
          <a:xfrm>
            <a:off x="4381500" y="2540000"/>
            <a:ext cx="3429000" cy="279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E9B9A9-1171-1073-2A91-16CF0AD81918}"/>
              </a:ext>
            </a:extLst>
          </p:cNvPr>
          <p:cNvSpPr/>
          <p:nvPr/>
        </p:nvSpPr>
        <p:spPr>
          <a:xfrm>
            <a:off x="4381500" y="2540000"/>
            <a:ext cx="63500" cy="2794000"/>
          </a:xfrm>
          <a:prstGeom prst="rect">
            <a:avLst/>
          </a:prstGeom>
          <a:solidFill>
            <a:srgbClr val="C06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9835B4-7377-3949-D915-0DC3BE7F6072}"/>
              </a:ext>
            </a:extLst>
          </p:cNvPr>
          <p:cNvSpPr txBox="1"/>
          <p:nvPr/>
        </p:nvSpPr>
        <p:spPr>
          <a:xfrm>
            <a:off x="4584700" y="2717800"/>
            <a:ext cx="3022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200" b="1">
                <a:solidFill>
                  <a:srgbClr val="C06030"/>
                </a:solidFill>
                <a:latin typeface="Consolas" panose="020B0609020204030204" pitchFamily="49" charset="0"/>
              </a:rPr>
              <a:t>0/20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B5D503-870E-AAC8-95CB-5E71E5EE1E2C}"/>
              </a:ext>
            </a:extLst>
          </p:cNvPr>
          <p:cNvSpPr txBox="1"/>
          <p:nvPr/>
        </p:nvSpPr>
        <p:spPr>
          <a:xfrm>
            <a:off x="4584700" y="3454400"/>
            <a:ext cx="3022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2C3E50"/>
                </a:solidFill>
                <a:latin typeface="Calibri" panose="020F0502020204030204" pitchFamily="34" charset="0"/>
              </a:rPr>
              <a:t>DeFi recognition. No country in the index scores a 3 on DeFi. Traditional legal frameworks cannot classify decentralized protocols.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FD6E15-6B77-0FE5-7778-0BD9C38E3421}"/>
              </a:ext>
            </a:extLst>
          </p:cNvPr>
          <p:cNvSpPr/>
          <p:nvPr/>
        </p:nvSpPr>
        <p:spPr>
          <a:xfrm>
            <a:off x="8001000" y="2540000"/>
            <a:ext cx="3429000" cy="279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55A870-4B3E-B134-38D6-39593F13F7EE}"/>
              </a:ext>
            </a:extLst>
          </p:cNvPr>
          <p:cNvSpPr/>
          <p:nvPr/>
        </p:nvSpPr>
        <p:spPr>
          <a:xfrm>
            <a:off x="8001000" y="2540000"/>
            <a:ext cx="63500" cy="2794000"/>
          </a:xfrm>
          <a:prstGeom prst="rect">
            <a:avLst/>
          </a:prstGeom>
          <a:solidFill>
            <a:srgbClr val="1A6B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3E2FE9-51DB-2F97-1A80-39EAD30A5709}"/>
              </a:ext>
            </a:extLst>
          </p:cNvPr>
          <p:cNvSpPr txBox="1"/>
          <p:nvPr/>
        </p:nvSpPr>
        <p:spPr>
          <a:xfrm>
            <a:off x="8204200" y="2717800"/>
            <a:ext cx="3022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200" b="1">
                <a:solidFill>
                  <a:srgbClr val="1A6B7A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D626BD-A68F-A03A-493C-F815F7B7AB31}"/>
              </a:ext>
            </a:extLst>
          </p:cNvPr>
          <p:cNvSpPr txBox="1"/>
          <p:nvPr/>
        </p:nvSpPr>
        <p:spPr>
          <a:xfrm>
            <a:off x="8204200" y="3454400"/>
            <a:ext cx="3022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2C3E50"/>
                </a:solidFill>
                <a:latin typeface="Calibri" panose="020F0502020204030204" pitchFamily="34" charset="0"/>
              </a:rPr>
              <a:t>Hostile-tier countries. Bangladesh, Yemen, and Ethiopia all score 0.333 across all six sub-dimensions. Operating there carries maximum legal risk.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081086-87C7-ACAE-1C12-07DE3ACF5BC4}"/>
              </a:ext>
            </a:extLst>
          </p:cNvPr>
          <p:cNvSpPr txBox="1"/>
          <p:nvPr/>
        </p:nvSpPr>
        <p:spPr>
          <a:xfrm>
            <a:off x="762000" y="56642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2C3E50"/>
                </a:solidFill>
                <a:latin typeface="Calibri" panose="020F0502020204030204" pitchFamily="34" charset="0"/>
              </a:rPr>
              <a:t>The takeaway. Even the most regulated jurisdictions still have a global blind spot: stablecoin and DeFi rules. That is the next regulatory frontier everywhere.</a:t>
            </a:r>
          </a:p>
        </p:txBody>
      </p:sp>
    </p:spTree>
    <p:extLst>
      <p:ext uri="{BB962C8B-B14F-4D97-AF65-F5344CB8AC3E}">
        <p14:creationId xmlns:p14="http://schemas.microsoft.com/office/powerpoint/2010/main" val="1007632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ABCBA-D0D9-F2F8-5464-79BF816DE871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9BDCE8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5BA8B5"/>
                </a:solidFill>
                <a:latin typeface="Consolas" panose="020B0609020204030204" pitchFamily="49" charset="0"/>
              </a:rPr>
              <a:t>JADEN CHOI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4689F-D05B-3C29-CFCF-4BC193F3174F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5BA8B5"/>
                </a:solidFill>
                <a:latin typeface="Consolas" panose="020B0609020204030204" pitchFamily="49" charset="0"/>
              </a:rPr>
              <a:t>15  -  FINDING IV  -  INFRASTRUCTURE CONCENTRATION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8469CF-E15B-3BED-8EB4-E31D3FFD2FE9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>
                <a:solidFill>
                  <a:srgbClr val="F0F4F8"/>
                </a:solidFill>
                <a:latin typeface="Cambria" panose="02040503050406030204" pitchFamily="18" charset="0"/>
              </a:rPr>
              <a:t>Crypto's 'decentralized' layer is geographically concentrated.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997C76-892E-61D5-BDFC-3186FC6AE7AF}"/>
              </a:ext>
            </a:extLst>
          </p:cNvPr>
          <p:cNvSpPr/>
          <p:nvPr/>
        </p:nvSpPr>
        <p:spPr>
          <a:xfrm>
            <a:off x="762000" y="2286000"/>
            <a:ext cx="4064000" cy="3175000"/>
          </a:xfrm>
          <a:prstGeom prst="roundRect">
            <a:avLst>
              <a:gd name="adj" fmla="val 4000"/>
            </a:avLst>
          </a:prstGeom>
          <a:solidFill>
            <a:srgbClr val="1224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7DC8D-61ED-9D67-BC99-716755A72029}"/>
              </a:ext>
            </a:extLst>
          </p:cNvPr>
          <p:cNvSpPr/>
          <p:nvPr/>
        </p:nvSpPr>
        <p:spPr>
          <a:xfrm>
            <a:off x="762000" y="2286000"/>
            <a:ext cx="63500" cy="3175000"/>
          </a:xfrm>
          <a:prstGeom prst="rect">
            <a:avLst/>
          </a:prstGeom>
          <a:solidFill>
            <a:srgbClr val="5BA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E2B49-F3F1-F6B1-2C51-08569E3DDF9A}"/>
              </a:ext>
            </a:extLst>
          </p:cNvPr>
          <p:cNvSpPr txBox="1"/>
          <p:nvPr/>
        </p:nvSpPr>
        <p:spPr>
          <a:xfrm>
            <a:off x="965200" y="2463800"/>
            <a:ext cx="3657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200" b="1">
                <a:solidFill>
                  <a:srgbClr val="5BA8B5"/>
                </a:solidFill>
                <a:latin typeface="Consolas" panose="020B0609020204030204" pitchFamily="49" charset="0"/>
              </a:rPr>
              <a:t>58.6%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71C39-2873-A461-5F93-FE4AE8019156}"/>
              </a:ext>
            </a:extLst>
          </p:cNvPr>
          <p:cNvSpPr txBox="1"/>
          <p:nvPr/>
        </p:nvSpPr>
        <p:spPr>
          <a:xfrm>
            <a:off x="965200" y="3200400"/>
            <a:ext cx="3657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D0DAE3"/>
                </a:solidFill>
                <a:latin typeface="Calibri" panose="020F0502020204030204" pitchFamily="34" charset="0"/>
              </a:rPr>
              <a:t>of global Bitcoin hashrate is produced by just four countries: US (37.5%), Russia (16.4%), Ethiopia (2.6%), Indonesia (2.1%).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A7CFF-D17F-3B42-0125-3A24C470DB06}"/>
              </a:ext>
            </a:extLst>
          </p:cNvPr>
          <p:cNvSpPr txBox="1"/>
          <p:nvPr/>
        </p:nvSpPr>
        <p:spPr>
          <a:xfrm>
            <a:off x="5207000" y="2413000"/>
            <a:ext cx="609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F0F4F8"/>
                </a:solidFill>
                <a:latin typeface="Cambria" panose="02040503050406030204" pitchFamily="18" charset="0"/>
              </a:rPr>
              <a:t>Exception: The Ethiopia Paradox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F3ECA1-870D-54A1-0147-9D96FA126BEA}"/>
              </a:ext>
            </a:extLst>
          </p:cNvPr>
          <p:cNvSpPr txBox="1"/>
          <p:nvPr/>
        </p:nvSpPr>
        <p:spPr>
          <a:xfrm>
            <a:off x="5207000" y="2844800"/>
            <a:ext cx="609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D0DAE3"/>
                </a:solidFill>
                <a:latin typeface="Calibri" panose="020F0502020204030204" pitchFamily="34" charset="0"/>
              </a:rPr>
              <a:t>Hostile regulation (0.333). Near-zero consumer adoption (0.173). Yet Ethiopia produces 2.6% of global Bitcoin hashrate, powered by cheap hydroelectric energy from the Grand Ethiopian Renaissance Dam.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83DD41-6FBB-79D7-7501-6A47CA2981F6}"/>
              </a:ext>
            </a:extLst>
          </p:cNvPr>
          <p:cNvSpPr txBox="1"/>
          <p:nvPr/>
        </p:nvSpPr>
        <p:spPr>
          <a:xfrm>
            <a:off x="5207000" y="3860800"/>
            <a:ext cx="609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D0DAE3"/>
                </a:solidFill>
                <a:latin typeface="Calibri" panose="020F0502020204030204" pitchFamily="34" charset="0"/>
              </a:rPr>
              <a:t>Indonesia mirrors this pattern: 2.1% global hashrate driven by geothermal energy, while also being the #1 country for DeFi adoption per Chainalysis.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59E6C1-D75E-B0CD-B5FE-02CB98636AD5}"/>
              </a:ext>
            </a:extLst>
          </p:cNvPr>
          <p:cNvSpPr txBox="1"/>
          <p:nvPr/>
        </p:nvSpPr>
        <p:spPr>
          <a:xfrm>
            <a:off x="5207000" y="4749800"/>
            <a:ext cx="609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i="1">
                <a:solidFill>
                  <a:srgbClr val="9BDCE8"/>
                </a:solidFill>
                <a:latin typeface="Calibri" panose="020F0502020204030204" pitchFamily="34" charset="0"/>
              </a:rPr>
              <a:t>Mining concentration is now an energy-policy and geopolitical question, not just a technical one.</a:t>
            </a:r>
          </a:p>
        </p:txBody>
      </p:sp>
    </p:spTree>
    <p:extLst>
      <p:ext uri="{BB962C8B-B14F-4D97-AF65-F5344CB8AC3E}">
        <p14:creationId xmlns:p14="http://schemas.microsoft.com/office/powerpoint/2010/main" val="2293577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00DDD8-3ACB-5488-0AD2-5E3E15280517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1A7A4E"/>
                </a:solidFill>
                <a:latin typeface="Consolas" panose="020B0609020204030204" pitchFamily="49" charset="0"/>
              </a:rPr>
              <a:t>NICO TAYLOR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1B54A-8891-DB4F-8F52-C1D61ADA8D5A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1A7A4E"/>
                </a:solidFill>
                <a:latin typeface="Consolas" panose="020B0609020204030204" pitchFamily="49" charset="0"/>
              </a:rPr>
              <a:t>16  -  FINDING V  -  CRISIS DRIVES ADOPTION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FE82C-4E73-AF93-EC51-8E9AA1B07BD5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1A2A3A"/>
                </a:solidFill>
                <a:latin typeface="Cambria" panose="02040503050406030204" pitchFamily="18" charset="0"/>
              </a:rPr>
              <a:t>Sanctions and economic crisis are stronger catalysts than policy.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0EBF0-1D9C-C195-039F-2849982B7BC0}"/>
              </a:ext>
            </a:extLst>
          </p:cNvPr>
          <p:cNvSpPr txBox="1"/>
          <p:nvPr/>
        </p:nvSpPr>
        <p:spPr>
          <a:xfrm>
            <a:off x="762000" y="20066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C3E50"/>
                </a:solidFill>
                <a:latin typeface="Calibri" panose="020F0502020204030204" pitchFamily="34" charset="0"/>
              </a:rPr>
              <a:t>Restrictive rules alone cannot prevent adoption when citizens face economic necessity.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4BC06A3-994E-AD8B-55E4-F64AB84F243F}"/>
              </a:ext>
            </a:extLst>
          </p:cNvPr>
          <p:cNvSpPr/>
          <p:nvPr/>
        </p:nvSpPr>
        <p:spPr>
          <a:xfrm>
            <a:off x="762000" y="2794000"/>
            <a:ext cx="5207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E75278-05D1-FD10-893A-F3EA8E6BEAC9}"/>
              </a:ext>
            </a:extLst>
          </p:cNvPr>
          <p:cNvSpPr/>
          <p:nvPr/>
        </p:nvSpPr>
        <p:spPr>
          <a:xfrm>
            <a:off x="762000" y="2794000"/>
            <a:ext cx="5207000" cy="50800"/>
          </a:xfrm>
          <a:prstGeom prst="rect">
            <a:avLst/>
          </a:prstGeom>
          <a:solidFill>
            <a:srgbClr val="1A6B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1F7DC-C0B5-8AD2-9D78-4068114C04F1}"/>
              </a:ext>
            </a:extLst>
          </p:cNvPr>
          <p:cNvSpPr txBox="1"/>
          <p:nvPr/>
        </p:nvSpPr>
        <p:spPr>
          <a:xfrm>
            <a:off x="965200" y="29718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RUSSIA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611C2F-505F-D5F6-BBAC-F52EB7516CD0}"/>
              </a:ext>
            </a:extLst>
          </p:cNvPr>
          <p:cNvSpPr txBox="1"/>
          <p:nvPr/>
        </p:nvSpPr>
        <p:spPr>
          <a:xfrm>
            <a:off x="965200" y="31750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Sanctions, regulation 'Developing' (0.611)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D9F5F2-D1E8-C9D8-8737-B4EC57D922B5}"/>
              </a:ext>
            </a:extLst>
          </p:cNvPr>
          <p:cNvSpPr txBox="1"/>
          <p:nvPr/>
        </p:nvSpPr>
        <p:spPr>
          <a:xfrm>
            <a:off x="965200" y="37084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Yet 16.4% of global Bitcoin hashrate (#2 worldwide) and an Advanced-tier technical infrastructure score (0.584). International isolation has paradoxically deepened the country's crypto presence.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96EA9D0-1D73-496D-AB5F-589CCE14810E}"/>
              </a:ext>
            </a:extLst>
          </p:cNvPr>
          <p:cNvSpPr/>
          <p:nvPr/>
        </p:nvSpPr>
        <p:spPr>
          <a:xfrm>
            <a:off x="6223000" y="2794000"/>
            <a:ext cx="5207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265613-1EEF-2F83-9D63-12A73743C938}"/>
              </a:ext>
            </a:extLst>
          </p:cNvPr>
          <p:cNvSpPr/>
          <p:nvPr/>
        </p:nvSpPr>
        <p:spPr>
          <a:xfrm>
            <a:off x="6223000" y="2794000"/>
            <a:ext cx="5207000" cy="50800"/>
          </a:xfrm>
          <a:prstGeom prst="rect">
            <a:avLst/>
          </a:prstGeom>
          <a:solidFill>
            <a:srgbClr val="C06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1F79FA-FF31-6151-6740-CA1A859A470E}"/>
              </a:ext>
            </a:extLst>
          </p:cNvPr>
          <p:cNvSpPr txBox="1"/>
          <p:nvPr/>
        </p:nvSpPr>
        <p:spPr>
          <a:xfrm>
            <a:off x="6426200" y="29718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VENEZUELA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204332-6D55-50FD-B607-AAF7BCB0D8FB}"/>
              </a:ext>
            </a:extLst>
          </p:cNvPr>
          <p:cNvSpPr txBox="1"/>
          <p:nvPr/>
        </p:nvSpPr>
        <p:spPr>
          <a:xfrm>
            <a:off x="6426200" y="31750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Ambiguous regulation (0.556), hyperinflation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9FCA30-8DF3-7974-893A-DC2B4C0C4246}"/>
              </a:ext>
            </a:extLst>
          </p:cNvPr>
          <p:cNvSpPr txBox="1"/>
          <p:nvPr/>
        </p:nvSpPr>
        <p:spPr>
          <a:xfrm>
            <a:off x="6426200" y="3708400"/>
            <a:ext cx="480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A6B7C"/>
                </a:solidFill>
                <a:latin typeface="Calibri" panose="020F0502020204030204" pitchFamily="34" charset="0"/>
              </a:rPr>
              <a:t>10.3% crypto ownership, higher than Japan, South Korea, or the UK. USDT is functionally a parallel dollar; restrictive policy has not slowed it.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F439BD-EF75-0288-E547-99D2056B5A0D}"/>
              </a:ext>
            </a:extLst>
          </p:cNvPr>
          <p:cNvSpPr txBox="1"/>
          <p:nvPr/>
        </p:nvSpPr>
        <p:spPr>
          <a:xfrm>
            <a:off x="762000" y="5588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2C3E50"/>
                </a:solidFill>
                <a:latin typeface="Calibri" panose="020F0502020204030204" pitchFamily="34" charset="0"/>
              </a:rPr>
              <a:t>For policymakers. Channel adoption through clear frameworks rather than attempting to block it. Bans push usage into P2P and self-custody, where regulators have less visibility, not more control.</a:t>
            </a:r>
          </a:p>
        </p:txBody>
      </p:sp>
    </p:spTree>
    <p:extLst>
      <p:ext uri="{BB962C8B-B14F-4D97-AF65-F5344CB8AC3E}">
        <p14:creationId xmlns:p14="http://schemas.microsoft.com/office/powerpoint/2010/main" val="1879210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01F7BE-C9A7-37F6-9560-9BD9B8980A31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2E5FA1"/>
                </a:solidFill>
                <a:latin typeface="Consolas" panose="020B0609020204030204" pitchFamily="49" charset="0"/>
              </a:rPr>
              <a:t>FEDERICO BECERRA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EB733-A675-8939-CBCE-42C50362A72D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2E5FA1"/>
                </a:solidFill>
                <a:latin typeface="Consolas" panose="020B0609020204030204" pitchFamily="49" charset="0"/>
              </a:rPr>
              <a:t>17  -  FINDING VI  -  MARKET ENTRY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AC513-5DA1-D0DE-71C2-2014EE768430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>
                <a:solidFill>
                  <a:srgbClr val="1A2A3A"/>
                </a:solidFill>
                <a:latin typeface="Cambria" panose="02040503050406030204" pitchFamily="18" charset="0"/>
              </a:rPr>
              <a:t>Five distinct risk-reward profiles.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EA777-A92C-0761-C176-A5A13E4EF0F0}"/>
              </a:ext>
            </a:extLst>
          </p:cNvPr>
          <p:cNvSpPr txBox="1"/>
          <p:nvPr/>
        </p:nvSpPr>
        <p:spPr>
          <a:xfrm>
            <a:off x="762000" y="20066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C3E50"/>
                </a:solidFill>
                <a:latin typeface="Calibri" panose="020F0502020204030204" pitchFamily="34" charset="0"/>
              </a:rPr>
              <a:t>The split-pillar score lets us group countries by the kind of opportunity (and risk) they actually offer.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3ACF3D-83FD-9A0D-D216-04FEE205635E}"/>
              </a:ext>
            </a:extLst>
          </p:cNvPr>
          <p:cNvSpPr/>
          <p:nvPr/>
        </p:nvSpPr>
        <p:spPr>
          <a:xfrm>
            <a:off x="762000" y="2730500"/>
            <a:ext cx="21336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A53421-0F02-D84B-8476-8F14816314E0}"/>
              </a:ext>
            </a:extLst>
          </p:cNvPr>
          <p:cNvSpPr/>
          <p:nvPr/>
        </p:nvSpPr>
        <p:spPr>
          <a:xfrm>
            <a:off x="762000" y="2730500"/>
            <a:ext cx="2133600" cy="38100"/>
          </a:xfrm>
          <a:prstGeom prst="rect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97C69-669C-E249-255D-27D7DBCD3BC0}"/>
              </a:ext>
            </a:extLst>
          </p:cNvPr>
          <p:cNvSpPr txBox="1"/>
          <p:nvPr/>
        </p:nvSpPr>
        <p:spPr>
          <a:xfrm>
            <a:off x="914400" y="28702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LOW RISK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D136D-19ED-6C93-ECDA-9BF21592C7EF}"/>
              </a:ext>
            </a:extLst>
          </p:cNvPr>
          <p:cNvSpPr txBox="1"/>
          <p:nvPr/>
        </p:nvSpPr>
        <p:spPr>
          <a:xfrm>
            <a:off x="914400" y="30988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A2A3A"/>
                </a:solidFill>
                <a:latin typeface="Cambria" panose="02040503050406030204" pitchFamily="18" charset="0"/>
              </a:rPr>
              <a:t>Proven Markets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57730D-62AA-B779-6085-63B58715CE46}"/>
              </a:ext>
            </a:extLst>
          </p:cNvPr>
          <p:cNvSpPr txBox="1"/>
          <p:nvPr/>
        </p:nvSpPr>
        <p:spPr>
          <a:xfrm>
            <a:off x="914400" y="35560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2C3E50"/>
                </a:solidFill>
                <a:latin typeface="Calibri" panose="020F0502020204030204" pitchFamily="34" charset="0"/>
              </a:rPr>
              <a:t>US, UK, Japan, Brazil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66AF5E-C25B-7ADB-DFAF-41010151AF86}"/>
              </a:ext>
            </a:extLst>
          </p:cNvPr>
          <p:cNvSpPr txBox="1"/>
          <p:nvPr/>
        </p:nvSpPr>
        <p:spPr>
          <a:xfrm>
            <a:off x="914400" y="42164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5A6B7C"/>
                </a:solidFill>
                <a:latin typeface="Calibri" panose="020F0502020204030204" pitchFamily="34" charset="0"/>
              </a:rPr>
              <a:t>Legal certainty + strong infrastructure. Best for regulated exchanges and institutional / enterprise products.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623AF0C-8FE8-BB01-0622-4232D21CAE23}"/>
              </a:ext>
            </a:extLst>
          </p:cNvPr>
          <p:cNvSpPr/>
          <p:nvPr/>
        </p:nvSpPr>
        <p:spPr>
          <a:xfrm>
            <a:off x="3048000" y="2730500"/>
            <a:ext cx="21336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520E6F-D6D3-71A8-C976-5A825B5F5BD9}"/>
              </a:ext>
            </a:extLst>
          </p:cNvPr>
          <p:cNvSpPr/>
          <p:nvPr/>
        </p:nvSpPr>
        <p:spPr>
          <a:xfrm>
            <a:off x="3048000" y="2730500"/>
            <a:ext cx="2133600" cy="38100"/>
          </a:xfrm>
          <a:prstGeom prst="rect">
            <a:avLst/>
          </a:prstGeom>
          <a:solidFill>
            <a:srgbClr val="D491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D3A691-B8AD-743B-BA35-6887C3A3AFE1}"/>
              </a:ext>
            </a:extLst>
          </p:cNvPr>
          <p:cNvSpPr txBox="1"/>
          <p:nvPr/>
        </p:nvSpPr>
        <p:spPr>
          <a:xfrm>
            <a:off x="3200400" y="28702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HIGH GROWTH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DA3B58-C9A0-3F79-F5A7-C52B70FDB8DE}"/>
              </a:ext>
            </a:extLst>
          </p:cNvPr>
          <p:cNvSpPr txBox="1"/>
          <p:nvPr/>
        </p:nvSpPr>
        <p:spPr>
          <a:xfrm>
            <a:off x="3200400" y="30988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A2A3A"/>
                </a:solidFill>
                <a:latin typeface="Cambria" panose="02040503050406030204" pitchFamily="18" charset="0"/>
              </a:rPr>
              <a:t>Developing Regulation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A0F091-7347-FB66-43C2-4F97B3C11422}"/>
              </a:ext>
            </a:extLst>
          </p:cNvPr>
          <p:cNvSpPr txBox="1"/>
          <p:nvPr/>
        </p:nvSpPr>
        <p:spPr>
          <a:xfrm>
            <a:off x="3200400" y="35560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2C3E50"/>
                </a:solidFill>
                <a:latin typeface="Calibri" panose="020F0502020204030204" pitchFamily="34" charset="0"/>
              </a:rPr>
              <a:t>Ukraine, India, Philippines, Indonesia, Thailand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E6F533-4D5A-C590-E842-796C6109A720}"/>
              </a:ext>
            </a:extLst>
          </p:cNvPr>
          <p:cNvSpPr txBox="1"/>
          <p:nvPr/>
        </p:nvSpPr>
        <p:spPr>
          <a:xfrm>
            <a:off x="3200400" y="42164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5A6B7C"/>
                </a:solidFill>
                <a:latin typeface="Calibri" panose="020F0502020204030204" pitchFamily="34" charset="0"/>
              </a:rPr>
              <a:t>Large user bases with regulation moving in the right direction. Ideal for wallets, remittance, DeFi, P2P.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BD7AD06-F4EF-A047-A8A1-69FC0C2B9C00}"/>
              </a:ext>
            </a:extLst>
          </p:cNvPr>
          <p:cNvSpPr/>
          <p:nvPr/>
        </p:nvSpPr>
        <p:spPr>
          <a:xfrm>
            <a:off x="5334000" y="2730500"/>
            <a:ext cx="21336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6F4119-246A-B136-3E1D-CC4D0C963BEE}"/>
              </a:ext>
            </a:extLst>
          </p:cNvPr>
          <p:cNvSpPr/>
          <p:nvPr/>
        </p:nvSpPr>
        <p:spPr>
          <a:xfrm>
            <a:off x="5334000" y="2730500"/>
            <a:ext cx="2133600" cy="38100"/>
          </a:xfrm>
          <a:prstGeom prst="rect">
            <a:avLst/>
          </a:prstGeom>
          <a:solidFill>
            <a:srgbClr val="C06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E51E8A-858D-03FB-0B7A-6D49B5912A41}"/>
              </a:ext>
            </a:extLst>
          </p:cNvPr>
          <p:cNvSpPr txBox="1"/>
          <p:nvPr/>
        </p:nvSpPr>
        <p:spPr>
          <a:xfrm>
            <a:off x="5486400" y="28702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HIGH RISK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EE7487-6D89-A6CF-2685-F48AC7C9A730}"/>
              </a:ext>
            </a:extLst>
          </p:cNvPr>
          <p:cNvSpPr txBox="1"/>
          <p:nvPr/>
        </p:nvSpPr>
        <p:spPr>
          <a:xfrm>
            <a:off x="5486400" y="30988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A2A3A"/>
                </a:solidFill>
                <a:latin typeface="Cambria" panose="02040503050406030204" pitchFamily="18" charset="0"/>
              </a:rPr>
              <a:t>Necessity-Driven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272BE3-0AC8-E63F-7751-C4D44C8E2B96}"/>
              </a:ext>
            </a:extLst>
          </p:cNvPr>
          <p:cNvSpPr txBox="1"/>
          <p:nvPr/>
        </p:nvSpPr>
        <p:spPr>
          <a:xfrm>
            <a:off x="5486400" y="35560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2C3E50"/>
                </a:solidFill>
                <a:latin typeface="Calibri" panose="020F0502020204030204" pitchFamily="34" charset="0"/>
              </a:rPr>
              <a:t>Vietnam, Nigeria, Pakistan, Argentina, Venezuela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BE442D-37B7-263D-FF78-3D4193B69EB3}"/>
              </a:ext>
            </a:extLst>
          </p:cNvPr>
          <p:cNvSpPr txBox="1"/>
          <p:nvPr/>
        </p:nvSpPr>
        <p:spPr>
          <a:xfrm>
            <a:off x="5486400" y="42164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5A6B7C"/>
                </a:solidFill>
                <a:latin typeface="Calibri" panose="020F0502020204030204" pitchFamily="34" charset="0"/>
              </a:rPr>
              <a:t>Massive necessity-driven adoption. Regulatory standing can shift rapidly. High reward, high downside.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6D6C5B5-8178-D991-301E-B07E113D2A4C}"/>
              </a:ext>
            </a:extLst>
          </p:cNvPr>
          <p:cNvSpPr/>
          <p:nvPr/>
        </p:nvSpPr>
        <p:spPr>
          <a:xfrm>
            <a:off x="7620000" y="2730500"/>
            <a:ext cx="21336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42EE5F-3103-9255-18C8-D359A05F3207}"/>
              </a:ext>
            </a:extLst>
          </p:cNvPr>
          <p:cNvSpPr/>
          <p:nvPr/>
        </p:nvSpPr>
        <p:spPr>
          <a:xfrm>
            <a:off x="7620000" y="2730500"/>
            <a:ext cx="2133600" cy="38100"/>
          </a:xfrm>
          <a:prstGeom prst="rect">
            <a:avLst/>
          </a:prstGeom>
          <a:solidFill>
            <a:srgbClr val="2E5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15FA2F-6336-37DA-2235-D9CC036B9F57}"/>
              </a:ext>
            </a:extLst>
          </p:cNvPr>
          <p:cNvSpPr txBox="1"/>
          <p:nvPr/>
        </p:nvSpPr>
        <p:spPr>
          <a:xfrm>
            <a:off x="7772400" y="28702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INFRASTRUCTURE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0451A4-11D0-D6E0-DB55-0B640A92D282}"/>
              </a:ext>
            </a:extLst>
          </p:cNvPr>
          <p:cNvSpPr txBox="1"/>
          <p:nvPr/>
        </p:nvSpPr>
        <p:spPr>
          <a:xfrm>
            <a:off x="7772400" y="30988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A2A3A"/>
                </a:solidFill>
                <a:latin typeface="Cambria" panose="02040503050406030204" pitchFamily="18" charset="0"/>
              </a:rPr>
              <a:t>Mining / Node Plays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D88BE8-BDEC-A862-002F-3E465D3DF329}"/>
              </a:ext>
            </a:extLst>
          </p:cNvPr>
          <p:cNvSpPr txBox="1"/>
          <p:nvPr/>
        </p:nvSpPr>
        <p:spPr>
          <a:xfrm>
            <a:off x="7772400" y="35560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2C3E50"/>
                </a:solidFill>
                <a:latin typeface="Calibri" panose="020F0502020204030204" pitchFamily="34" charset="0"/>
              </a:rPr>
              <a:t>Russia, Ethiopia, Indonesia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C2C2E1-989E-92E0-7D4C-23C8A629930E}"/>
              </a:ext>
            </a:extLst>
          </p:cNvPr>
          <p:cNvSpPr txBox="1"/>
          <p:nvPr/>
        </p:nvSpPr>
        <p:spPr>
          <a:xfrm>
            <a:off x="7772400" y="42164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5A6B7C"/>
                </a:solidFill>
                <a:latin typeface="Calibri" panose="020F0502020204030204" pitchFamily="34" charset="0"/>
              </a:rPr>
              <a:t>Mining and node infrastructure opportunities driven by cheap energy, regardless of regulatory environment.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F13AFDE-3CC2-211F-3468-8DEBD7D1B869}"/>
              </a:ext>
            </a:extLst>
          </p:cNvPr>
          <p:cNvSpPr/>
          <p:nvPr/>
        </p:nvSpPr>
        <p:spPr>
          <a:xfrm>
            <a:off x="9906000" y="2730500"/>
            <a:ext cx="21336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267BC2-6D56-3ED8-8588-0F697FFF4FF0}"/>
              </a:ext>
            </a:extLst>
          </p:cNvPr>
          <p:cNvSpPr/>
          <p:nvPr/>
        </p:nvSpPr>
        <p:spPr>
          <a:xfrm>
            <a:off x="9906000" y="2730500"/>
            <a:ext cx="2133600" cy="381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810E0A-5BBA-1237-912E-9EE147F34879}"/>
              </a:ext>
            </a:extLst>
          </p:cNvPr>
          <p:cNvSpPr txBox="1"/>
          <p:nvPr/>
        </p:nvSpPr>
        <p:spPr>
          <a:xfrm>
            <a:off x="10058400" y="28702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AVOID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9B863E-5E68-022C-A572-42C6975FD9B3}"/>
              </a:ext>
            </a:extLst>
          </p:cNvPr>
          <p:cNvSpPr txBox="1"/>
          <p:nvPr/>
        </p:nvSpPr>
        <p:spPr>
          <a:xfrm>
            <a:off x="10058400" y="30988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A2A3A"/>
                </a:solidFill>
                <a:latin typeface="Cambria" panose="02040503050406030204" pitchFamily="18" charset="0"/>
              </a:rPr>
              <a:t>No Viable Path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C7C555-5660-F444-18A3-4A98B12EDDB2}"/>
              </a:ext>
            </a:extLst>
          </p:cNvPr>
          <p:cNvSpPr txBox="1"/>
          <p:nvPr/>
        </p:nvSpPr>
        <p:spPr>
          <a:xfrm>
            <a:off x="10058400" y="35560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2C3E50"/>
                </a:solidFill>
                <a:latin typeface="Calibri" panose="020F0502020204030204" pitchFamily="34" charset="0"/>
              </a:rPr>
              <a:t>Bangladesh, Yemen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6E0B43-D96F-8251-3F98-22840BDE1B95}"/>
              </a:ext>
            </a:extLst>
          </p:cNvPr>
          <p:cNvSpPr txBox="1"/>
          <p:nvPr/>
        </p:nvSpPr>
        <p:spPr>
          <a:xfrm>
            <a:off x="10058400" y="4216400"/>
            <a:ext cx="1828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5A6B7C"/>
                </a:solidFill>
                <a:latin typeface="Calibri" panose="020F0502020204030204" pitchFamily="34" charset="0"/>
              </a:rPr>
              <a:t>Hostile regulation plus minimal infrastructure. No viable entry point currently.</a:t>
            </a:r>
          </a:p>
        </p:txBody>
      </p:sp>
    </p:spTree>
    <p:extLst>
      <p:ext uri="{BB962C8B-B14F-4D97-AF65-F5344CB8AC3E}">
        <p14:creationId xmlns:p14="http://schemas.microsoft.com/office/powerpoint/2010/main" val="3852617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7F3B11-D53A-AB11-7B0C-38E28A4AF3FA}"/>
              </a:ext>
            </a:extLst>
          </p:cNvPr>
          <p:cNvSpPr txBox="1"/>
          <p:nvPr/>
        </p:nvSpPr>
        <p:spPr>
          <a:xfrm>
            <a:off x="7620000" y="355600"/>
            <a:ext cx="431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PRESENTED BY: </a:t>
            </a:r>
            <a:r>
              <a:rPr lang="en-US" sz="900" b="1">
                <a:solidFill>
                  <a:srgbClr val="2E5FA1"/>
                </a:solidFill>
                <a:latin typeface="Consolas" panose="020B0609020204030204" pitchFamily="49" charset="0"/>
              </a:rPr>
              <a:t>FEDERICO BECERRA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4FE0C-24FB-B3A3-2D3F-9F12208C7AEA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A4C6A"/>
                </a:solidFill>
                <a:latin typeface="Consolas" panose="020B0609020204030204" pitchFamily="49" charset="0"/>
              </a:rPr>
              <a:t>18  -  FINAL CONCLUSION  -  WHO SHOULD 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DF97E-E303-8BA4-305F-E15367B1D45A}"/>
              </a:ext>
            </a:extLst>
          </p:cNvPr>
          <p:cNvSpPr txBox="1"/>
          <p:nvPr/>
        </p:nvSpPr>
        <p:spPr>
          <a:xfrm>
            <a:off x="762000" y="1143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1A2A3A"/>
                </a:solidFill>
                <a:latin typeface="Cambria" panose="02040503050406030204" pitchFamily="18" charset="0"/>
              </a:rPr>
              <a:t>Different audiences, different reads.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26E13-647E-4221-450D-CBA673B23A9B}"/>
              </a:ext>
            </a:extLst>
          </p:cNvPr>
          <p:cNvSpPr txBox="1"/>
          <p:nvPr/>
        </p:nvSpPr>
        <p:spPr>
          <a:xfrm>
            <a:off x="762000" y="20066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C3E50"/>
                </a:solidFill>
                <a:latin typeface="Calibri" panose="020F0502020204030204" pitchFamily="34" charset="0"/>
              </a:rPr>
              <a:t>The split-pillar score is most useful when it changes a decision. Five audiences, five concrete reads.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D2F41F-C23B-7B94-13E1-A6E85466E09D}"/>
              </a:ext>
            </a:extLst>
          </p:cNvPr>
          <p:cNvSpPr/>
          <p:nvPr/>
        </p:nvSpPr>
        <p:spPr>
          <a:xfrm>
            <a:off x="762000" y="2730500"/>
            <a:ext cx="2032000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6D8A03-2875-31EA-564E-8CA185B8CE5F}"/>
              </a:ext>
            </a:extLst>
          </p:cNvPr>
          <p:cNvSpPr/>
          <p:nvPr/>
        </p:nvSpPr>
        <p:spPr>
          <a:xfrm>
            <a:off x="762000" y="2730500"/>
            <a:ext cx="2032000" cy="50800"/>
          </a:xfrm>
          <a:prstGeom prst="rect">
            <a:avLst/>
          </a:prstGeom>
          <a:solidFill>
            <a:srgbClr val="C06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2FF918-642E-602A-9B0D-6C26F76C53AC}"/>
              </a:ext>
            </a:extLst>
          </p:cNvPr>
          <p:cNvSpPr txBox="1"/>
          <p:nvPr/>
        </p:nvSpPr>
        <p:spPr>
          <a:xfrm>
            <a:off x="914400" y="29210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BUSINESS EXECUTIVES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FF475-4E22-3B98-A4C1-985C3C981ED3}"/>
              </a:ext>
            </a:extLst>
          </p:cNvPr>
          <p:cNvSpPr txBox="1"/>
          <p:nvPr/>
        </p:nvSpPr>
        <p:spPr>
          <a:xfrm>
            <a:off x="914400" y="31496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A2A3A"/>
                </a:solidFill>
                <a:latin typeface="Cambria" panose="02040503050406030204" pitchFamily="18" charset="0"/>
              </a:rPr>
              <a:t>Identify entry markets and allocate resources with legal certainty.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63173D-B166-A69E-E7EA-B8B67342A446}"/>
              </a:ext>
            </a:extLst>
          </p:cNvPr>
          <p:cNvSpPr txBox="1"/>
          <p:nvPr/>
        </p:nvSpPr>
        <p:spPr>
          <a:xfrm>
            <a:off x="914400" y="39878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>
                <a:solidFill>
                  <a:srgbClr val="5A6B7C"/>
                </a:solidFill>
                <a:latin typeface="Calibri" panose="020F0502020204030204" pitchFamily="34" charset="0"/>
              </a:rPr>
              <a:t>Use the risk-reward profiles to match the product to the country's underlying problem.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1F070A-E5E3-E66D-3DD9-E7C5FDA84A4D}"/>
              </a:ext>
            </a:extLst>
          </p:cNvPr>
          <p:cNvSpPr/>
          <p:nvPr/>
        </p:nvSpPr>
        <p:spPr>
          <a:xfrm>
            <a:off x="2946400" y="2730500"/>
            <a:ext cx="2032000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531C96-69CB-8E20-AE7D-28B2A192110C}"/>
              </a:ext>
            </a:extLst>
          </p:cNvPr>
          <p:cNvSpPr/>
          <p:nvPr/>
        </p:nvSpPr>
        <p:spPr>
          <a:xfrm>
            <a:off x="2946400" y="2730500"/>
            <a:ext cx="2032000" cy="50800"/>
          </a:xfrm>
          <a:prstGeom prst="rect">
            <a:avLst/>
          </a:prstGeom>
          <a:solidFill>
            <a:srgbClr val="1A6B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133E92-7F2B-6DDF-3C37-CEC7CA2C850B}"/>
              </a:ext>
            </a:extLst>
          </p:cNvPr>
          <p:cNvSpPr txBox="1"/>
          <p:nvPr/>
        </p:nvSpPr>
        <p:spPr>
          <a:xfrm>
            <a:off x="3098800" y="29210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LAWYERS &amp; COMPLIANCE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1B96CD-78CF-EAAC-1295-C2A250C6F65A}"/>
              </a:ext>
            </a:extLst>
          </p:cNvPr>
          <p:cNvSpPr txBox="1"/>
          <p:nvPr/>
        </p:nvSpPr>
        <p:spPr>
          <a:xfrm>
            <a:off x="3098800" y="31496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A2A3A"/>
                </a:solidFill>
                <a:latin typeface="Cambria" panose="02040503050406030204" pitchFamily="18" charset="0"/>
              </a:rPr>
              <a:t>Pinpoint legal risk by jurisdiction.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72CC7-FBD8-0821-8E6C-A4272AC7F20B}"/>
              </a:ext>
            </a:extLst>
          </p:cNvPr>
          <p:cNvSpPr txBox="1"/>
          <p:nvPr/>
        </p:nvSpPr>
        <p:spPr>
          <a:xfrm>
            <a:off x="3098800" y="39878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>
                <a:solidFill>
                  <a:srgbClr val="5A6B7C"/>
                </a:solidFill>
                <a:latin typeface="Calibri" panose="020F0502020204030204" pitchFamily="34" charset="0"/>
              </a:rPr>
              <a:t>Sub-dimension breakdown (stablecoin, licensing, tax, DeFi) makes risk legible at a granular level.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223E5F-522F-BB7E-5FEE-67A52D90440E}"/>
              </a:ext>
            </a:extLst>
          </p:cNvPr>
          <p:cNvSpPr/>
          <p:nvPr/>
        </p:nvSpPr>
        <p:spPr>
          <a:xfrm>
            <a:off x="5130800" y="2730500"/>
            <a:ext cx="2032000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5C1D48-681E-6244-C787-B8C52958F299}"/>
              </a:ext>
            </a:extLst>
          </p:cNvPr>
          <p:cNvSpPr/>
          <p:nvPr/>
        </p:nvSpPr>
        <p:spPr>
          <a:xfrm>
            <a:off x="5130800" y="2730500"/>
            <a:ext cx="2032000" cy="50800"/>
          </a:xfrm>
          <a:prstGeom prst="rect">
            <a:avLst/>
          </a:prstGeom>
          <a:solidFill>
            <a:srgbClr val="9B5A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6F756E-FF90-2B7B-60AD-1AD33CD5FE9F}"/>
              </a:ext>
            </a:extLst>
          </p:cNvPr>
          <p:cNvSpPr txBox="1"/>
          <p:nvPr/>
        </p:nvSpPr>
        <p:spPr>
          <a:xfrm>
            <a:off x="5283200" y="29210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POLICYMAKERS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FCC3C8-87E2-005F-F77A-BAC1621A55A6}"/>
              </a:ext>
            </a:extLst>
          </p:cNvPr>
          <p:cNvSpPr txBox="1"/>
          <p:nvPr/>
        </p:nvSpPr>
        <p:spPr>
          <a:xfrm>
            <a:off x="5283200" y="31496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A2A3A"/>
                </a:solidFill>
                <a:latin typeface="Cambria" panose="02040503050406030204" pitchFamily="18" charset="0"/>
              </a:rPr>
              <a:t>Pursue balance, not restriction.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CE98F4-66E9-0842-7008-3B6450E29301}"/>
              </a:ext>
            </a:extLst>
          </p:cNvPr>
          <p:cNvSpPr txBox="1"/>
          <p:nvPr/>
        </p:nvSpPr>
        <p:spPr>
          <a:xfrm>
            <a:off x="5283200" y="39878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>
                <a:solidFill>
                  <a:srgbClr val="5A6B7C"/>
                </a:solidFill>
                <a:latin typeface="Calibri" panose="020F0502020204030204" pitchFamily="34" charset="0"/>
              </a:rPr>
              <a:t>Ukraine and Brazil prove comprehensive regulation and high adoption can coexist. Bans push usage out of view.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3A6E936-483B-D810-702A-4CF31683527C}"/>
              </a:ext>
            </a:extLst>
          </p:cNvPr>
          <p:cNvSpPr/>
          <p:nvPr/>
        </p:nvSpPr>
        <p:spPr>
          <a:xfrm>
            <a:off x="7315200" y="2730500"/>
            <a:ext cx="2032000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B00232-CBC7-F9FF-C761-FFB2DB603B03}"/>
              </a:ext>
            </a:extLst>
          </p:cNvPr>
          <p:cNvSpPr/>
          <p:nvPr/>
        </p:nvSpPr>
        <p:spPr>
          <a:xfrm>
            <a:off x="7315200" y="2730500"/>
            <a:ext cx="2032000" cy="50800"/>
          </a:xfrm>
          <a:prstGeom prst="rect">
            <a:avLst/>
          </a:prstGeom>
          <a:solidFill>
            <a:srgbClr val="2E5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2A65A5-813A-FF7E-FB27-B56D5CC89BFC}"/>
              </a:ext>
            </a:extLst>
          </p:cNvPr>
          <p:cNvSpPr txBox="1"/>
          <p:nvPr/>
        </p:nvSpPr>
        <p:spPr>
          <a:xfrm>
            <a:off x="7467600" y="29210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INVESTORS &amp; VCS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186611-A082-854B-BD01-E7497490C848}"/>
              </a:ext>
            </a:extLst>
          </p:cNvPr>
          <p:cNvSpPr txBox="1"/>
          <p:nvPr/>
        </p:nvSpPr>
        <p:spPr>
          <a:xfrm>
            <a:off x="7467600" y="31496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A2A3A"/>
                </a:solidFill>
                <a:latin typeface="Cambria" panose="02040503050406030204" pitchFamily="18" charset="0"/>
              </a:rPr>
              <a:t>Read the trajectory, not just the level.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DC847F-12C6-8FEB-1FDD-18B93BCE0CED}"/>
              </a:ext>
            </a:extLst>
          </p:cNvPr>
          <p:cNvSpPr txBox="1"/>
          <p:nvPr/>
        </p:nvSpPr>
        <p:spPr>
          <a:xfrm>
            <a:off x="7467600" y="39878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>
                <a:solidFill>
                  <a:srgbClr val="5A6B7C"/>
                </a:solidFill>
                <a:latin typeface="Calibri" panose="020F0502020204030204" pitchFamily="34" charset="0"/>
              </a:rPr>
              <a:t>Adoption + improving regulation signals the highest-potential markets. Infrastructure scores reveal where the network is being built.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37108A7-2239-A4AE-28CE-7FDF028BC1DF}"/>
              </a:ext>
            </a:extLst>
          </p:cNvPr>
          <p:cNvSpPr/>
          <p:nvPr/>
        </p:nvSpPr>
        <p:spPr>
          <a:xfrm>
            <a:off x="9499600" y="2730500"/>
            <a:ext cx="2032000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859EEC-524A-78BC-2405-DDC14E9A293B}"/>
              </a:ext>
            </a:extLst>
          </p:cNvPr>
          <p:cNvSpPr/>
          <p:nvPr/>
        </p:nvSpPr>
        <p:spPr>
          <a:xfrm>
            <a:off x="9499600" y="2730500"/>
            <a:ext cx="2032000" cy="50800"/>
          </a:xfrm>
          <a:prstGeom prst="rect">
            <a:avLst/>
          </a:prstGeom>
          <a:solidFill>
            <a:srgbClr val="1A7A4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D73AA8-3703-657D-98DB-B707CAADDA49}"/>
              </a:ext>
            </a:extLst>
          </p:cNvPr>
          <p:cNvSpPr txBox="1"/>
          <p:nvPr/>
        </p:nvSpPr>
        <p:spPr>
          <a:xfrm>
            <a:off x="9652000" y="29210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BLOCKCHAIN DEVELOPERS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0BF75C-89D4-E443-10C7-157101D915FB}"/>
              </a:ext>
            </a:extLst>
          </p:cNvPr>
          <p:cNvSpPr txBox="1"/>
          <p:nvPr/>
        </p:nvSpPr>
        <p:spPr>
          <a:xfrm>
            <a:off x="9652000" y="31496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A2A3A"/>
                </a:solidFill>
                <a:latin typeface="Cambria" panose="02040503050406030204" pitchFamily="18" charset="0"/>
              </a:rPr>
              <a:t>Where to build infrastructure next.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8ED4E3-5678-3B83-A3BD-01A679D1D897}"/>
              </a:ext>
            </a:extLst>
          </p:cNvPr>
          <p:cNvSpPr txBox="1"/>
          <p:nvPr/>
        </p:nvSpPr>
        <p:spPr>
          <a:xfrm>
            <a:off x="9652000" y="3987800"/>
            <a:ext cx="1727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>
                <a:solidFill>
                  <a:srgbClr val="5A6B7C"/>
                </a:solidFill>
                <a:latin typeface="Calibri" panose="020F0502020204030204" pitchFamily="34" charset="0"/>
              </a:rPr>
              <a:t>Node and validator concentration data guides network expansion, validator location selection, and underserved-region targeting.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684CC2-3445-08F5-4476-FBD6932AA2FD}"/>
              </a:ext>
            </a:extLst>
          </p:cNvPr>
          <p:cNvSpPr txBox="1"/>
          <p:nvPr/>
        </p:nvSpPr>
        <p:spPr>
          <a:xfrm>
            <a:off x="762000" y="58674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2C3E50"/>
                </a:solidFill>
                <a:latin typeface="Calibri" panose="020F0502020204030204" pitchFamily="34" charset="0"/>
              </a:rPr>
              <a:t>One takeaway. No single number captures blockchain readiness. The split-pillar approach makes the underlying driver of every country's position legible to whoever needs to act on it.</a:t>
            </a:r>
          </a:p>
        </p:txBody>
      </p:sp>
    </p:spTree>
    <p:extLst>
      <p:ext uri="{BB962C8B-B14F-4D97-AF65-F5344CB8AC3E}">
        <p14:creationId xmlns:p14="http://schemas.microsoft.com/office/powerpoint/2010/main" val="4207454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B44E65-4F2F-F4DC-29B5-FC716B4376E0}"/>
              </a:ext>
            </a:extLst>
          </p:cNvPr>
          <p:cNvSpPr txBox="1"/>
          <p:nvPr/>
        </p:nvSpPr>
        <p:spPr>
          <a:xfrm>
            <a:off x="762000" y="1651000"/>
            <a:ext cx="254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5BA8B5"/>
                </a:solidFill>
                <a:latin typeface="Consolas" panose="020B0609020204030204" pitchFamily="49" charset="0"/>
              </a:rPr>
              <a:t>FIN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F5F12-9665-DFCF-DDEF-A589206F4042}"/>
              </a:ext>
            </a:extLst>
          </p:cNvPr>
          <p:cNvSpPr txBox="1"/>
          <p:nvPr/>
        </p:nvSpPr>
        <p:spPr>
          <a:xfrm>
            <a:off x="762000" y="2286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600" b="1">
                <a:solidFill>
                  <a:srgbClr val="F0F4F8"/>
                </a:solidFill>
                <a:latin typeface="Cambria" panose="02040503050406030204" pitchFamily="18" charset="0"/>
              </a:rPr>
              <a:t>Questions?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07919-AF5C-5E14-D354-076D8F21CD88}"/>
              </a:ext>
            </a:extLst>
          </p:cNvPr>
          <p:cNvSpPr txBox="1"/>
          <p:nvPr/>
        </p:nvSpPr>
        <p:spPr>
          <a:xfrm>
            <a:off x="762000" y="45720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D0DAE3"/>
                </a:solidFill>
                <a:latin typeface="Calibri" panose="020F0502020204030204" pitchFamily="34" charset="0"/>
              </a:rPr>
              <a:t>Blockchain Adoption Atlas  -  TAC 456 Capstone  -  April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5BFFB5-49D6-835C-A96A-503D5F6BFFB6}"/>
              </a:ext>
            </a:extLst>
          </p:cNvPr>
          <p:cNvSpPr txBox="1"/>
          <p:nvPr/>
        </p:nvSpPr>
        <p:spPr>
          <a:xfrm>
            <a:off x="762000" y="49784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7E8C98"/>
                </a:solidFill>
                <a:latin typeface="Consolas" panose="020B0609020204030204" pitchFamily="49" charset="0"/>
              </a:rPr>
              <a:t>Federico Becerra  -  Nico Taylor  -  Jaden Choi  -  Alexis Vo  -  Alon Mutter  -  Ari Choe</a:t>
            </a:r>
          </a:p>
        </p:txBody>
      </p:sp>
    </p:spTree>
    <p:extLst>
      <p:ext uri="{BB962C8B-B14F-4D97-AF65-F5344CB8AC3E}">
        <p14:creationId xmlns:p14="http://schemas.microsoft.com/office/powerpoint/2010/main" val="1298130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2574</Words>
  <Application>Microsoft Office PowerPoint</Application>
  <PresentationFormat>On-screen Show (16:9)</PresentationFormat>
  <Paragraphs>274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Jaden Choi</dc:creator>
  <cp:lastModifiedBy>Jaden Choi</cp:lastModifiedBy>
  <cp:revision>1</cp:revision>
  <dcterms:created xsi:type="dcterms:W3CDTF">2026-04-29T07:19:16Z</dcterms:created>
  <dcterms:modified xsi:type="dcterms:W3CDTF">2026-04-29T07:19:16Z</dcterms:modified>
</cp:coreProperties>
</file>